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19:00 · Lucas abre. Bienvenida de 30 segundos y pasa directo a presentación del equipo. Energía alta, sin vueltas.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19:00-19:03 · Presentación express: una línea cada uno. Lucas presenta a Juanma y viceversa. Reemplazar los placeholders FOTO por las fotos reales antes de clase.</a:t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19:03-19:08 · Lucas comparte QR y link en el chat de Zoom. Deja 5 minutos. Mientras tanto pasa a la slide siguiente (viaje del curso). Juanma monitorea que entren respuestas en la Data Table.</a:t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19:03-19:08 · Slide de fondo mientras llenan el form. Lucas la recorre liviano: 'esto es lo que van a saber hacer en agosto'. No detenerse en cada módulo.</a:t>
            </a:r>
            <a:endParaRPr/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19:08-19:11 · Lucas proyecta la página HTML servida por n8n y comenta la audiencia: de dónde son, qué roles dominan, qué les interesa. Tono liviano, 2-3 minutos. Cierra con mate vs. café.</a:t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19:11-19:13 · Juanma abre n8n en vivo: 2 workflows + pestaña Executions con las ejecuciones apiladas. Frase puente de Lucas: 'Esto es lineal, siempre hace lo mismo. Hoy vemos qué pasa cuando el flujo tiene que DECIDIR'.</a:t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19:13 · Lucas recorre la agenda en 40 segundos. Aclarar: hoy es 70% práctica, la teoría dura 20 minutos.</a:t>
            </a:r>
            <a:endParaRPr/>
          </a:p>
        </p:txBody>
      </p:sp>
      <p:sp>
        <p:nvSpPr>
          <p:cNvPr id="147" name="Google Shape;14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19:14-19:18 · Lucas explica con la analogía. INTERCAMBIO: Juanma cuenta 1 caso real de un flujo lineal que se rompió por ambigüedad (2 min).</a:t>
            </a:r>
            <a:endParaRPr/>
          </a:p>
        </p:txBody>
      </p:sp>
      <p:sp>
        <p:nvSpPr>
          <p:cNvPr id="163" name="Google Shape;1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19:18-19:21 · Caso oficial del programa. Lucas lo narra como historia. Pregunta retórica antes de revelar: ¿ustedes a qué área lo mandarían?</a:t>
            </a:r>
            <a:endParaRPr/>
          </a:p>
        </p:txBody>
      </p:sp>
      <p:sp>
        <p:nvSpPr>
          <p:cNvPr id="181" name="Google Shape;1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19:21-19:25 · Juanma explica el ciclo con un ejemplo hablado (estado de un pedido). Lucas traduce a negocio: cada 'pensamiento' se factura, por eso el diseño importa.</a:t>
            </a:r>
            <a:endParaRPr/>
          </a:p>
        </p:txBody>
      </p:sp>
      <p:sp>
        <p:nvSpPr>
          <p:cNvPr id="195" name="Google Shape;1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19:25-19:29 · Juanma describe cada pieza. Anticipar: 'todo esto lo armamos en vivo después del break'. Si preguntan Memory vs. base de conocimiento: la memoria es de la sesión, RAG llega en el Módulo 5.</a:t>
            </a:r>
            <a:endParaRPr/>
          </a:p>
        </p:txBody>
      </p:sp>
      <p:sp>
        <p:nvSpPr>
          <p:cNvPr id="222" name="Google Shape;22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19:29-19:32 · Lucas cierra la teoría con la regla de oro. Juanma refuerza con el antipatrón. Conectar con el checkpoint: los guardrails valen 35% de la rúbrica.</a:t>
            </a:r>
            <a:endParaRPr/>
          </a:p>
        </p:txBody>
      </p:sp>
      <p:sp>
        <p:nvSpPr>
          <p:cNvPr id="251" name="Google Shape;2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19:32-19:33 · Lucas lee los 3 puntos, sin agregar nada. Pasar rápido a la actividad.</a:t>
            </a:r>
            <a:endParaRPr/>
          </a:p>
        </p:txBody>
      </p:sp>
      <p:sp>
        <p:nvSpPr>
          <p:cNvPr id="264" name="Google Shape;26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19:33-19:48 · Actividad oficial (15 min). Lucas modera y lanza las encuestas de Zoom. Juanma da el cierre técnico de cada escenario. Ritmo: ~2 min por escenario.</a:t>
            </a:r>
            <a:endParaRPr/>
          </a:p>
        </p:txBody>
      </p:sp>
      <p:sp>
        <p:nvSpPr>
          <p:cNvPr id="288" name="Google Shape;28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Respuestas guía: 1 lineal · 2 agente · 3 lineal · 4 agente (con escalamiento humano) · 5 lineal (regla clara) · 6 agente. En 4 y 5 abrir debate: el 5 tienta a decir agente, pero es un IF perfecto.</a:t>
            </a:r>
            <a:endParaRPr/>
          </a:p>
        </p:txBody>
      </p:sp>
      <p:sp>
        <p:nvSpPr>
          <p:cNvPr id="303" name="Google Shape;30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19:48-19:58 · Break de 10 minutos. Dejar esta slide fija. Juanma deja n8n listo para la demo: workflow limpio, credenciales cargadas, JSON roto de la clínica a mano.</a:t>
            </a:r>
            <a:endParaRPr/>
          </a:p>
        </p:txBody>
      </p:sp>
      <p:sp>
        <p:nvSpPr>
          <p:cNvPr id="333" name="Google Shape;33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19:58-20:00 · Lucas presenta el caso en 90 segundos y pasa el control a Juanma. La promesa de romperlo genera expectativa: los errores son el contenido, no un accidente.</a:t>
            </a:r>
            <a:endParaRPr/>
          </a:p>
        </p:txBody>
      </p:sp>
      <p:sp>
        <p:nvSpPr>
          <p:cNvPr id="339" name="Google Shape;33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20:00-20:15 · Slide fija de referencia mientras Juanma construye en n8n. Lucas tilda verbalmente cada punto y traduce a negocio. El System Prompt modular es la estructura exacta de la rúbrica del checkpoint.</a:t>
            </a:r>
            <a:endParaRPr/>
          </a:p>
        </p:txBody>
      </p:sp>
      <p:sp>
        <p:nvSpPr>
          <p:cNvPr id="365" name="Google Shape;36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20:15-20:20 · Error intencional oficial. Juanma deja que falle EN VIVO. Lucas pregunta a la clase: ¿qué creen que pasó? Recién después abren el log. La reparación en vivo es el momento más didáctico.</a:t>
            </a:r>
            <a:endParaRPr/>
          </a:p>
        </p:txBody>
      </p:sp>
      <p:sp>
        <p:nvSpPr>
          <p:cNvPr id="391" name="Google Shape;39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20:20-20:28 · Clínica de Fallos integrada. Juanma abre el JSON roto preparado de antemano. Lucas conecta con dinero: cada vuelta del bucle son tokens facturados, el límite de iteraciones es un guardrail FINANCIERO.</a:t>
            </a:r>
            <a:endParaRPr/>
          </a:p>
        </p:txBody>
      </p:sp>
      <p:sp>
        <p:nvSpPr>
          <p:cNvPr id="406" name="Google Shape;40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0" name="Google Shape;42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Cierre de la demo, 1 minuto. Lucas lee los tips. Son los criterios de la rúbrica del checkpoint dichos en lenguaje de tips.</a:t>
            </a:r>
            <a:endParaRPr/>
          </a:p>
        </p:txBody>
      </p:sp>
      <p:sp>
        <p:nvSpPr>
          <p:cNvPr id="421" name="Google Shape;42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20:28-20:43 · Actividad oficial en salas. Lucas y Juanma rotan: Lucas empuja el criterio de negocio (¿y si la factura es urgente?), Juanma la arquitectura (¿dónde corta el humano?).</a:t>
            </a:r>
            <a:endParaRPr/>
          </a:p>
        </p:txBody>
      </p:sp>
      <p:sp>
        <p:nvSpPr>
          <p:cNvPr id="445" name="Google Shape;44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20:43-20:53 · Feedback cruzado: Lucas evalúa criterio de negocio, Juanma la arquitectura. Elogiar diseños distintos entre sí: no hay respuesta única.</a:t>
            </a:r>
            <a:endParaRPr/>
          </a:p>
        </p:txBody>
      </p:sp>
      <p:sp>
        <p:nvSpPr>
          <p:cNvPr id="462" name="Google Shape;46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20:53-20:55 · Lucas sintetiza. Preguntar: ¿algo de esto los sorprendió? Tomar 1 o 2 respuestas rápidas.</a:t>
            </a:r>
            <a:endParaRPr/>
          </a:p>
        </p:txBody>
      </p:sp>
      <p:sp>
        <p:nvSpPr>
          <p:cNvPr id="477" name="Google Shape;47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20:55-20:56 · Mencionar rápido. El JSON roto se sube al repositorio después de clase.</a:t>
            </a:r>
            <a:endParaRPr/>
          </a:p>
        </p:txBody>
      </p:sp>
      <p:sp>
        <p:nvSpPr>
          <p:cNvPr id="505" name="Google Shape;505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20:56-20:57 · Es corto y sirve de repaso. Las preguntas salen de lo visto hoy, no de las lecturas.</a:t>
            </a:r>
            <a:endParaRPr/>
          </a:p>
        </p:txBody>
      </p:sp>
      <p:sp>
        <p:nvSpPr>
          <p:cNvPr id="518" name="Google Shape;51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20:57-21:00 · Cierre de Lucas con energía. Mención LIVIANA del checkpoint. Despedida de ambos. Si sobra tiempo: 1 pregunta más del chat.</a:t>
            </a:r>
            <a:endParaRPr/>
          </a:p>
        </p:txBody>
      </p:sp>
      <p:sp>
        <p:nvSpPr>
          <p:cNvPr id="533" name="Google Shape;53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oder97480.app.n8n.cloud/form/28a06892-b634-4479-aa17-e6759d4773e1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14400" y="1417320"/>
            <a:ext cx="103601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Automation Avanzado · Clase 1 · Módulo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31520" y="1965960"/>
            <a:ext cx="10725912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FDF6EC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DF6EC"/>
                </a:solidFill>
                <a:latin typeface="Arial"/>
                <a:ea typeface="Arial"/>
                <a:cs typeface="Arial"/>
                <a:sym typeface="Arial"/>
              </a:rPr>
              <a:t>Fundamentos de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1739"/>
              </a:lnSpc>
              <a:spcBef>
                <a:spcPts val="0"/>
              </a:spcBef>
              <a:spcAft>
                <a:spcPts val="0"/>
              </a:spcAft>
              <a:buClr>
                <a:srgbClr val="FDF6EC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DF6EC"/>
                </a:solidFill>
                <a:latin typeface="Arial"/>
                <a:ea typeface="Arial"/>
                <a:cs typeface="Arial"/>
                <a:sym typeface="Arial"/>
              </a:rPr>
              <a:t>Agentes Autónomos con n8n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371600" y="4206240"/>
            <a:ext cx="94457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Hoy pasamos de construir flujos que obedecen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diseñar sistemas que deciden.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270248" y="60350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2927543" y="1640058"/>
            <a:ext cx="6336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Presentación del </a:t>
            </a:r>
            <a:r>
              <a:rPr b="1" i="0" lang="en-US" sz="3800" u="none" cap="none" strike="noStrike">
                <a:solidFill>
                  <a:srgbClr val="1A0502"/>
                </a:solidFill>
                <a:highlight>
                  <a:srgbClr val="FDAB2E"/>
                </a:highlight>
                <a:latin typeface="Arial"/>
                <a:ea typeface="Arial"/>
                <a:cs typeface="Arial"/>
                <a:sym typeface="Arial"/>
              </a:rPr>
              <a:t>equipo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7568328" y="963403"/>
            <a:ext cx="2286000" cy="502800"/>
          </a:xfrm>
          <a:prstGeom prst="roundRect">
            <a:avLst>
              <a:gd fmla="val 9091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 flipH="1" rot="10800000">
            <a:off x="7796928" y="1438759"/>
            <a:ext cx="274200" cy="201300"/>
          </a:xfrm>
          <a:prstGeom prst="triangle">
            <a:avLst>
              <a:gd fmla="val 50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7568328" y="963403"/>
            <a:ext cx="2286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COMISIÓN N° 97480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2644148" y="2994653"/>
            <a:ext cx="2834700" cy="1371600"/>
          </a:xfrm>
          <a:prstGeom prst="roundRect">
            <a:avLst>
              <a:gd fmla="val 8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2827028" y="3113524"/>
            <a:ext cx="24690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Profesor: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Lucas Barrantes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Automations Funnels Architect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713227" y="2994653"/>
            <a:ext cx="2834700" cy="1371600"/>
          </a:xfrm>
          <a:prstGeom prst="roundRect">
            <a:avLst>
              <a:gd fmla="val 8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896108" y="3113524"/>
            <a:ext cx="24690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Profesor: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Juanma Brignole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Automation Engineer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Los dos estamos en todas las clases: mirada de negocio + mirada técnica.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10696651" y="502920"/>
            <a:ext cx="1035101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10696651" y="502920"/>
            <a:ext cx="1035101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Queremos conocerte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40080" y="2011680"/>
            <a:ext cx="64008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Tenés 5 minutos para responder 8 preguntas.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1A0502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1A0502"/>
                </a:solidFill>
              </a:rPr>
              <a:t>N</a:t>
            </a:r>
            <a:r>
              <a:rPr b="0" i="0" lang="en-US" sz="18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o hay respuestas correctas.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1A050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Con tus respuestas adaptamos el curso a la comisión.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1A050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Spoiler: el formulario que estás usando ya es parte de la clase.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7589520" y="1737360"/>
            <a:ext cx="3931920" cy="4023360"/>
          </a:xfrm>
          <a:prstGeom prst="roundRect">
            <a:avLst>
              <a:gd fmla="val 3721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8276438" y="3345388"/>
            <a:ext cx="2558100" cy="8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00"/>
              <a:buFont typeface="Arial"/>
              <a:buNone/>
            </a:pPr>
            <a:r>
              <a:rPr b="1" lang="en-US" sz="1500" u="sng">
                <a:solidFill>
                  <a:schemeClr val="hlink"/>
                </a:solidFill>
                <a:hlinkClick r:id="rId3"/>
              </a:rPr>
              <a:t>https://coder97480.app.n8n.cloud/form/28a06892-b634-4479-aa17-e6759d4773e1</a:t>
            </a:r>
            <a:endParaRPr b="1" sz="1500">
              <a:solidFill>
                <a:srgbClr val="1A0502"/>
              </a:solidFill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40080" y="521208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Mientras respondés, mirá la siguiente slide: el mapa del curso.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El viaje del curso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640080" y="1828800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/>
          <p:cNvSpPr/>
          <p:nvPr/>
        </p:nvSpPr>
        <p:spPr>
          <a:xfrm>
            <a:off x="640080" y="18288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1207008" y="178308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Fundamentos de Agentes Autónomos con n8n  (hoy)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640080" y="2514600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640080" y="25146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1207008" y="246888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Arquitectura Multi-Agente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640080" y="3200400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640080" y="32004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1207008" y="315468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Memoria, Contexto y Persistencia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40080" y="3886200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640080" y="38862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1207008" y="384048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Ecosistema de Herramientas e Integraciones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40080" y="4572000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640080" y="45720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207008" y="452628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El Cerebro Documental de la IA (RAG con LlamaCloud)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640080" y="5257800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640080" y="52578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207008" y="521208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Voice AI y Agentes Conversacionales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6309360" y="1828800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6309360" y="18288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876288" y="1783080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Agentes Especializados por Industria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309360" y="2514600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6309360" y="25146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876288" y="2468880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Evaluación Automática y Mejora Continua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309360" y="3200400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6309360" y="32004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876288" y="3154680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Gestión, Escalado y Asesoría de Sistemas Agénticos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309360" y="3886200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309360" y="38862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876288" y="3840480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De Sistema Agéntico a Propuesta de Valor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309360" y="4572000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6309360" y="45720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876288" y="4526280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Proyecto Final: Sistema Agéntico Desplegado y Defendido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11 módulos · 30 horas · un sistema agéntico empresarial completo al final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10857586" y="502920"/>
            <a:ext cx="874166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10857586" y="502920"/>
            <a:ext cx="87416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 VIVO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Así es esta comisión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40080" y="1828800"/>
            <a:ext cx="10881360" cy="3840480"/>
          </a:xfrm>
          <a:prstGeom prst="roundRect">
            <a:avLst>
              <a:gd fmla="val 3810" name="adj"/>
            </a:avLst>
          </a:prstGeom>
          <a:solidFill>
            <a:srgbClr val="FAF1E8"/>
          </a:solidFill>
          <a:ln cap="flat" cmpd="sng" w="19050">
            <a:solidFill>
              <a:srgbClr val="FF612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640080" y="2560320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Pasamos a pantalla en vivo: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el dashboard con sus respuestas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Países · Edades · Roles · Industrias · Experiencia con n8n · Intereses · Mate vs. café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640080" y="475488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La página se actualiza sola cada 10 segundos.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10213848" y="502920"/>
            <a:ext cx="1517904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10213848" y="502920"/>
            <a:ext cx="1517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EN VIVO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502920" y="685800"/>
            <a:ext cx="9326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¿Cómo hicimos esto? Con n8n, obvio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640080" y="17373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Workflow 1 · Captura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640080" y="2148840"/>
            <a:ext cx="2103120" cy="914400"/>
          </a:xfrm>
          <a:prstGeom prst="roundRect">
            <a:avLst>
              <a:gd fmla="val 160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640080" y="214884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Form Trigger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2743200" y="2148840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3291840" y="2148840"/>
            <a:ext cx="2103120" cy="914400"/>
          </a:xfrm>
          <a:prstGeom prst="roundRect">
            <a:avLst>
              <a:gd fmla="val 160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3291840" y="214884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Data Table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(Insert)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640080" y="32918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Workflow 2 · Dashboard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40080" y="3703320"/>
            <a:ext cx="2103120" cy="914400"/>
          </a:xfrm>
          <a:prstGeom prst="roundRect">
            <a:avLst>
              <a:gd fmla="val 160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640080" y="370332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Webhook GET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/dashboard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2743200" y="3703320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3291840" y="3703320"/>
            <a:ext cx="2103120" cy="914400"/>
          </a:xfrm>
          <a:prstGeom prst="roundRect">
            <a:avLst>
              <a:gd fmla="val 160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3291840" y="370332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Data Table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(Get rows)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394960" y="3703320"/>
            <a:ext cx="548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943600" y="3703320"/>
            <a:ext cx="2103120" cy="914400"/>
          </a:xfrm>
          <a:prstGeom prst="roundRect">
            <a:avLst>
              <a:gd fmla="val 160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5943600" y="3703320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Respond 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Webhook (HTML)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8778240" y="2148840"/>
            <a:ext cx="2743200" cy="914400"/>
          </a:xfrm>
          <a:prstGeom prst="roundRect">
            <a:avLst>
              <a:gd fmla="val 10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8778240" y="2148840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Esto es LINEAL: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siempre hace lo mismo.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5 nodos, cero código, y ya tienen: formulario, base de datos y dashboard.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A0502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En la pestaña Executions hay una ejecución verde por cada uno de ustedes: eso es observabilidad.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Hoy vamos a ver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640080" y="1920240"/>
            <a:ext cx="5349240" cy="3017520"/>
          </a:xfrm>
          <a:prstGeom prst="roundRect">
            <a:avLst>
              <a:gd fmla="val 4848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914400" y="1920240"/>
            <a:ext cx="48006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1. Lineal vs. agentes: cuándo usar cada uno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2. El ciclo ReAct: cómo razona un agente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3. Anatomía del AI Agent node de n8n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217920" y="1920240"/>
            <a:ext cx="5349240" cy="3017520"/>
          </a:xfrm>
          <a:prstGeom prst="roundRect">
            <a:avLst>
              <a:gd fmla="val 4848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6492240" y="1920240"/>
            <a:ext cx="48006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4. Actividad: ¿Flujo o Agente? (votación)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5. Demo en vivo: construir y romper un agente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87500"/>
              </a:lnSpc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6. Desafío grupal: el Agente de Hierro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40080" y="5257800"/>
            <a:ext cx="10927080" cy="777240"/>
          </a:xfrm>
          <a:prstGeom prst="roundRect">
            <a:avLst>
              <a:gd fmla="val 18824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640080" y="5257800"/>
            <a:ext cx="10927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Break 19:48 · Preguntas dentro de cada bloque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La receta vs. el chef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640080" y="1783080"/>
            <a:ext cx="5349240" cy="3931920"/>
          </a:xfrm>
          <a:prstGeom prst="roundRect">
            <a:avLst>
              <a:gd fmla="val 3721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914400" y="201168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AUTOMATIZACIÓN LINEAL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914400" y="2395728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El riel de tren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914400" y="2834640"/>
            <a:ext cx="48006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Yo sé exactamente qué pasos seguir.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Trigger → IF → Acción: cada ruta la definís vos.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Resultado 100% predecible.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Si falla, se rompió una conexión: nunca 'dudó'.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6217920" y="1783080"/>
            <a:ext cx="5349240" cy="3931920"/>
          </a:xfrm>
          <a:prstGeom prst="roundRect">
            <a:avLst>
              <a:gd fmla="val 3721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6492240" y="201168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AGENTE AUTÓNOMO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6492240" y="2395728"/>
            <a:ext cx="4800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El conductor de taxi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6492240" y="2834640"/>
            <a:ext cx="480060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Te doy un objetivo y herramientas: decidí el camino.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Interpreta, elige tools, observa y corrige el rumbo.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Resultado probabilístico.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1A0502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No es 'un nodo que llama a un LLM': es un sistema.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Caso real: triage de soporte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640080" y="1783080"/>
            <a:ext cx="10881360" cy="914400"/>
          </a:xfrm>
          <a:prstGeom prst="roundRect">
            <a:avLst>
              <a:gd fmla="val 160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914400" y="178308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900"/>
              <a:buFont typeface="Arial"/>
              <a:buNone/>
            </a:pPr>
            <a:r>
              <a:rPr b="1" i="1" lang="en-US" sz="19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Llega un correo:  "No puedo pagar porque me da un error"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640080" y="292608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¿Es de Contabilidad o de Soporte Técnico?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640080" y="3474720"/>
            <a:ext cx="108813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Flujo lineal: si dice 'factura' va a Contabilidad, si dice 'error' crea ticket en Jira. Acá falla o duplica acciones.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Agente: lee el correo, nota la ambigüedad, consulta el historial del cliente en el CRM.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Ve un pago pendiente y decide: responde pidiendo el código de error antes de derivar.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30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Eso es criterio. Y el criterio no se programa con un IF.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2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502920" y="6858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El ciclo ReAct: así razona un agente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640080" y="2103120"/>
            <a:ext cx="2468880" cy="1920240"/>
          </a:xfrm>
          <a:prstGeom prst="roundRect">
            <a:avLst>
              <a:gd fmla="val 7619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2"/>
          <p:cNvSpPr/>
          <p:nvPr/>
        </p:nvSpPr>
        <p:spPr>
          <a:xfrm>
            <a:off x="804672" y="2286000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1 · Thought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/>
          <p:nvPr/>
        </p:nvSpPr>
        <p:spPr>
          <a:xfrm>
            <a:off x="804672" y="2788920"/>
            <a:ext cx="21396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Analiza el input y decide qué necesita hacer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3035808" y="2788920"/>
            <a:ext cx="5120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3493008" y="2103120"/>
            <a:ext cx="2468880" cy="1920240"/>
          </a:xfrm>
          <a:prstGeom prst="roundRect">
            <a:avLst>
              <a:gd fmla="val 7619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3657600" y="2286000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2 · Action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3657600" y="2788920"/>
            <a:ext cx="21396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Elige y ejecuta una herramienta (tool)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5888736" y="2788920"/>
            <a:ext cx="5120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2"/>
          <p:cNvSpPr/>
          <p:nvPr/>
        </p:nvSpPr>
        <p:spPr>
          <a:xfrm>
            <a:off x="6345936" y="2103120"/>
            <a:ext cx="2468880" cy="1920240"/>
          </a:xfrm>
          <a:prstGeom prst="roundRect">
            <a:avLst>
              <a:gd fmla="val 7619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6510528" y="2286000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3 · Observation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6510528" y="2788920"/>
            <a:ext cx="21396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Lee el resultado que devolvió la tool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8741664" y="2788920"/>
            <a:ext cx="512064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9198864" y="2103120"/>
            <a:ext cx="2468880" cy="1920240"/>
          </a:xfrm>
          <a:prstGeom prst="roundRect">
            <a:avLst>
              <a:gd fmla="val 7619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9363456" y="2286000"/>
            <a:ext cx="213969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4 · Repeat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9363456" y="2788920"/>
            <a:ext cx="21396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¿Objetivo cumplido? Si no, vuelve al paso 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640080" y="425196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Del paso 4 vuelve al 1 hasta cumplir el objetivo.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640080" y="4892040"/>
            <a:ext cx="10881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Cada vuelta del ciclo consume tokens: por eso un agente 'gasta' más que un flujo lineal.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Todo el ciclo se puede leer paso a paso en el Execution Log de n8n. Lo vemos en la demo.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Anatomía del AI Agent node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4572000" y="3017520"/>
            <a:ext cx="3017520" cy="1097280"/>
          </a:xfrm>
          <a:prstGeom prst="roundRect">
            <a:avLst>
              <a:gd fmla="val 10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4572000" y="3017520"/>
            <a:ext cx="30175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AGENT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(estación central)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640080" y="1783080"/>
            <a:ext cx="3017520" cy="1417320"/>
          </a:xfrm>
          <a:prstGeom prst="roundRect">
            <a:avLst>
              <a:gd fmla="val 10323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"/>
          <p:cNvSpPr/>
          <p:nvPr/>
        </p:nvSpPr>
        <p:spPr>
          <a:xfrm>
            <a:off x="822960" y="19202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Chat Model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822960" y="233172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El motor cognitivo: GPT-4o o Claude, vía nodo nativo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8549640" y="1783080"/>
            <a:ext cx="3017520" cy="1417320"/>
          </a:xfrm>
          <a:prstGeom prst="roundRect">
            <a:avLst>
              <a:gd fmla="val 10323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3"/>
          <p:cNvSpPr/>
          <p:nvPr/>
        </p:nvSpPr>
        <p:spPr>
          <a:xfrm>
            <a:off x="8732520" y="192024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System Message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8732520" y="233172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Rol, tono, reglas y límites del agente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640080" y="4434840"/>
            <a:ext cx="3017520" cy="1417320"/>
          </a:xfrm>
          <a:prstGeom prst="roundRect">
            <a:avLst>
              <a:gd fmla="val 10323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822960" y="45720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822960" y="498348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Sus manos: Sheets, Gmail, Slack, HTTP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8549640" y="4434840"/>
            <a:ext cx="3017520" cy="1417320"/>
          </a:xfrm>
          <a:prstGeom prst="roundRect">
            <a:avLst>
              <a:gd fmla="val 10323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8732520" y="45720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8732520" y="4983480"/>
            <a:ext cx="2651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Recuerda pasos previos y mantiene coherencia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13"/>
          <p:cNvCxnSpPr/>
          <p:nvPr/>
        </p:nvCxnSpPr>
        <p:spPr>
          <a:xfrm>
            <a:off x="3657600" y="2514600"/>
            <a:ext cx="1188720" cy="822960"/>
          </a:xfrm>
          <a:prstGeom prst="straightConnector1">
            <a:avLst/>
          </a:prstGeom>
          <a:noFill/>
          <a:ln cap="flat" cmpd="sng" w="15875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13"/>
          <p:cNvCxnSpPr/>
          <p:nvPr/>
        </p:nvCxnSpPr>
        <p:spPr>
          <a:xfrm flipH="1" rot="10800000">
            <a:off x="7589520" y="2514600"/>
            <a:ext cx="960120" cy="822960"/>
          </a:xfrm>
          <a:prstGeom prst="straightConnector1">
            <a:avLst/>
          </a:prstGeom>
          <a:noFill/>
          <a:ln cap="flat" cmpd="sng" w="15875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13"/>
          <p:cNvCxnSpPr/>
          <p:nvPr/>
        </p:nvCxnSpPr>
        <p:spPr>
          <a:xfrm flipH="1" rot="10800000">
            <a:off x="3657600" y="4069080"/>
            <a:ext cx="1188720" cy="685800"/>
          </a:xfrm>
          <a:prstGeom prst="straightConnector1">
            <a:avLst/>
          </a:prstGeom>
          <a:noFill/>
          <a:ln cap="flat" cmpd="sng" w="15875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13"/>
          <p:cNvCxnSpPr/>
          <p:nvPr/>
        </p:nvCxnSpPr>
        <p:spPr>
          <a:xfrm>
            <a:off x="7589520" y="4069080"/>
            <a:ext cx="960120" cy="685800"/>
          </a:xfrm>
          <a:prstGeom prst="straightConnector1">
            <a:avLst/>
          </a:prstGeom>
          <a:noFill/>
          <a:ln cap="flat" cmpd="sng" w="15875">
            <a:solidFill>
              <a:srgbClr val="7A7A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13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Las 4 piezas se acoplan arrastrando en el lienzo. Sin código.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La regla de oro del experto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640080" y="1828800"/>
            <a:ext cx="10881360" cy="1005840"/>
          </a:xfrm>
          <a:prstGeom prst="roundRect">
            <a:avLst>
              <a:gd fmla="val 10909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640080" y="1828800"/>
            <a:ext cx="108813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Mantené lo determinista. Delegá lo ambiguo.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640080" y="3154680"/>
            <a:ext cx="108813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Si podés escribir una regla IF clara, usá un nodo IF. El agente es solo para donde hace falta criterio.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Antipatrón 'Agente Agujero Negro': un solo agente que lee, analiza, calcula y envía todo. Dividí y vencerás.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Sobre-usar agentes suma latencia, costo y fragilidad.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Guardrail básico: límite de iteraciones (5 a 10) para que el agente nunca entre en un bucle infinito. Lo configuramos en la demo.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10374782" y="502920"/>
            <a:ext cx="1356970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10374782" y="502920"/>
            <a:ext cx="135697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RECORDAR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Para recordar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640080" y="1920240"/>
            <a:ext cx="10881360" cy="1051560"/>
          </a:xfrm>
          <a:prstGeom prst="roundRect">
            <a:avLst>
              <a:gd fmla="val 13913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914400" y="2231136"/>
            <a:ext cx="438912" cy="438912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914400" y="223113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1645920" y="1920240"/>
            <a:ext cx="9601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Un workflow sigue un camino predefinido. Un agente decide el siguiente paso según el resultado del anterior.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640080" y="3200400"/>
            <a:ext cx="10881360" cy="1051560"/>
          </a:xfrm>
          <a:prstGeom prst="roundRect">
            <a:avLst>
              <a:gd fmla="val 13913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914400" y="3511296"/>
            <a:ext cx="438912" cy="438912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914400" y="351129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1645920" y="3200400"/>
            <a:ext cx="9601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ReAct: Thought → Action → Observation → Repeat.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640080" y="4480560"/>
            <a:ext cx="10881360" cy="1051560"/>
          </a:xfrm>
          <a:prstGeom prst="roundRect">
            <a:avLst>
              <a:gd fmla="val 13913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914400" y="4791456"/>
            <a:ext cx="438912" cy="438912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5"/>
          <p:cNvSpPr/>
          <p:nvPr/>
        </p:nvSpPr>
        <p:spPr>
          <a:xfrm>
            <a:off x="914400" y="479145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1645920" y="4480560"/>
            <a:ext cx="9601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El agente es tan bueno como las herramientas que le das y las reglas que le escribís.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10535717" y="502920"/>
            <a:ext cx="1196035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"/>
          <p:cNvSpPr/>
          <p:nvPr/>
        </p:nvSpPr>
        <p:spPr>
          <a:xfrm>
            <a:off x="10535717" y="502920"/>
            <a:ext cx="11960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PENSAR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502920" y="6858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Actividad: ¿Flujo o Agente?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640080" y="2011680"/>
            <a:ext cx="78638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Te mostramos 6 procesos de negocio reales.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1A050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Votás en la encuesta de Zoom: ¿automatización lineal o agente autónomo?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1A050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Después de cada votación, justificamos juntos la respuesta.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1A050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La pregunta clave siempre es: ¿este proceso necesita criterio o necesita reglas?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8869680" y="2011680"/>
            <a:ext cx="2651760" cy="1463040"/>
          </a:xfrm>
          <a:prstGeom prst="roundRect">
            <a:avLst>
              <a:gd fmla="val 100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"/>
          <p:cNvSpPr/>
          <p:nvPr/>
        </p:nvSpPr>
        <p:spPr>
          <a:xfrm>
            <a:off x="8869680" y="2011680"/>
            <a:ext cx="2651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minutos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7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7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7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7"/>
          <p:cNvSpPr/>
          <p:nvPr/>
        </p:nvSpPr>
        <p:spPr>
          <a:xfrm>
            <a:off x="10535717" y="502920"/>
            <a:ext cx="1196035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7"/>
          <p:cNvSpPr/>
          <p:nvPr/>
        </p:nvSpPr>
        <p:spPr>
          <a:xfrm>
            <a:off x="10535717" y="502920"/>
            <a:ext cx="11960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PENSAR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7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Los 6 escenarios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640080" y="1828800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640080" y="18288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1207008" y="1764792"/>
            <a:ext cx="102412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Al recibir un formulario web, enviar un mensaje a Slack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640080" y="2542032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7"/>
          <p:cNvSpPr/>
          <p:nvPr/>
        </p:nvSpPr>
        <p:spPr>
          <a:xfrm>
            <a:off x="640080" y="254203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1207008" y="2478024"/>
            <a:ext cx="102412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Leer cada lead que entra, investigar su empresa y decidir si agendar reunión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/>
          <p:nvPr/>
        </p:nvSpPr>
        <p:spPr>
          <a:xfrm>
            <a:off x="640080" y="3255264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7"/>
          <p:cNvSpPr/>
          <p:nvPr/>
        </p:nvSpPr>
        <p:spPr>
          <a:xfrm>
            <a:off x="640080" y="32552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1207008" y="3191256"/>
            <a:ext cx="102412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Todos los lunes 9:00, exportar ventas de la semana a una planilla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640080" y="3968496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7"/>
          <p:cNvSpPr/>
          <p:nvPr/>
        </p:nvSpPr>
        <p:spPr>
          <a:xfrm>
            <a:off x="640080" y="396849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1207008" y="3904488"/>
            <a:ext cx="102412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Recibir tickets de soporte y resolver los simples, escalando los complejos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640080" y="4681728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640080" y="468172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1207008" y="4617720"/>
            <a:ext cx="102412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Cuando una factura supera $50.000, pedir aprobación al gerente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640080" y="5394960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7"/>
          <p:cNvSpPr/>
          <p:nvPr/>
        </p:nvSpPr>
        <p:spPr>
          <a:xfrm>
            <a:off x="640080" y="539496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1207008" y="5330952"/>
            <a:ext cx="102412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Leer contratos recibidos y evaluar si las cláusulas cumplen la política interna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64A4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"/>
          <p:cNvSpPr/>
          <p:nvPr/>
        </p:nvSpPr>
        <p:spPr>
          <a:xfrm>
            <a:off x="1097280" y="2011680"/>
            <a:ext cx="99669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Break,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andá por un cafecito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72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mate. ¡Volvemos </a:t>
            </a:r>
            <a:r>
              <a:rPr b="1" lang="en-US" sz="4400">
                <a:solidFill>
                  <a:srgbClr val="FFFFFF"/>
                </a:solidFill>
              </a:rPr>
              <a:t>20</a:t>
            </a: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1" lang="en-US" sz="4400">
                <a:solidFill>
                  <a:srgbClr val="FFFFFF"/>
                </a:solidFill>
              </a:rPr>
              <a:t>12</a:t>
            </a: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9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9"/>
          <p:cNvSpPr/>
          <p:nvPr/>
        </p:nvSpPr>
        <p:spPr>
          <a:xfrm>
            <a:off x="10213848" y="502920"/>
            <a:ext cx="1517904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9"/>
          <p:cNvSpPr/>
          <p:nvPr/>
        </p:nvSpPr>
        <p:spPr>
          <a:xfrm>
            <a:off x="10213848" y="502920"/>
            <a:ext cx="1517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EN VIVO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502920" y="68580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Demo: construimos un agente en vivo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9"/>
          <p:cNvSpPr/>
          <p:nvPr/>
        </p:nvSpPr>
        <p:spPr>
          <a:xfrm>
            <a:off x="640080" y="182880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El caso: un agente de soporte que decide solo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/>
          <p:nvPr/>
        </p:nvSpPr>
        <p:spPr>
          <a:xfrm>
            <a:off x="640080" y="2514600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9"/>
          <p:cNvSpPr/>
          <p:nvPr/>
        </p:nvSpPr>
        <p:spPr>
          <a:xfrm>
            <a:off x="640080" y="251460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9"/>
          <p:cNvSpPr/>
          <p:nvPr/>
        </p:nvSpPr>
        <p:spPr>
          <a:xfrm>
            <a:off x="1207008" y="246888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Recibe un correo de soporte de un cliente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9"/>
          <p:cNvSpPr/>
          <p:nvPr/>
        </p:nvSpPr>
        <p:spPr>
          <a:xfrm>
            <a:off x="640080" y="3291840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9"/>
          <p:cNvSpPr/>
          <p:nvPr/>
        </p:nvSpPr>
        <p:spPr>
          <a:xfrm>
            <a:off x="640080" y="32918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1207008" y="324612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Busca la respuesta en la base de conocimiento (Google Sheets)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640080" y="4069080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9"/>
          <p:cNvSpPr/>
          <p:nvPr/>
        </p:nvSpPr>
        <p:spPr>
          <a:xfrm>
            <a:off x="640080" y="40690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1207008" y="402336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Si la encuentra: responde solo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640080" y="4846320"/>
            <a:ext cx="402336" cy="402336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9"/>
          <p:cNvSpPr/>
          <p:nvPr/>
        </p:nvSpPr>
        <p:spPr>
          <a:xfrm>
            <a:off x="640080" y="484632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1207008" y="4800600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Si no la encuentra: escala a un humano y avisa por Slack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9"/>
          <p:cNvSpPr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1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Y sí: lo vamos a romper a propósito. Dos veces.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0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10213848" y="502920"/>
            <a:ext cx="1517904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0"/>
          <p:cNvSpPr/>
          <p:nvPr/>
        </p:nvSpPr>
        <p:spPr>
          <a:xfrm>
            <a:off x="10213848" y="502920"/>
            <a:ext cx="1517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EN VIVO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Checklist de construcción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640080" y="1828800"/>
            <a:ext cx="365760" cy="365760"/>
          </a:xfrm>
          <a:prstGeom prst="roundRect">
            <a:avLst>
              <a:gd fmla="val 17500" name="adj"/>
            </a:avLst>
          </a:prstGeom>
          <a:solidFill>
            <a:srgbClr val="FAF1E8"/>
          </a:solidFill>
          <a:ln cap="flat" cmpd="sng" w="19050">
            <a:solidFill>
              <a:srgbClr val="FF61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0"/>
          <p:cNvSpPr/>
          <p:nvPr/>
        </p:nvSpPr>
        <p:spPr>
          <a:xfrm>
            <a:off x="1207008" y="1737360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Chat Trigger: la puerta de entrada del mensaje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640080" y="2468880"/>
            <a:ext cx="365760" cy="365760"/>
          </a:xfrm>
          <a:prstGeom prst="roundRect">
            <a:avLst>
              <a:gd fmla="val 17500" name="adj"/>
            </a:avLst>
          </a:prstGeom>
          <a:solidFill>
            <a:srgbClr val="FAF1E8"/>
          </a:solidFill>
          <a:ln cap="flat" cmpd="sng" w="19050">
            <a:solidFill>
              <a:srgbClr val="FF61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0"/>
          <p:cNvSpPr/>
          <p:nvPr/>
        </p:nvSpPr>
        <p:spPr>
          <a:xfrm>
            <a:off x="1207008" y="2377440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AI Agent node en modo Tools Agent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0"/>
          <p:cNvSpPr/>
          <p:nvPr/>
        </p:nvSpPr>
        <p:spPr>
          <a:xfrm>
            <a:off x="640080" y="3108960"/>
            <a:ext cx="365760" cy="365760"/>
          </a:xfrm>
          <a:prstGeom prst="roundRect">
            <a:avLst>
              <a:gd fmla="val 17500" name="adj"/>
            </a:avLst>
          </a:prstGeom>
          <a:solidFill>
            <a:srgbClr val="FAF1E8"/>
          </a:solidFill>
          <a:ln cap="flat" cmpd="sng" w="19050">
            <a:solidFill>
              <a:srgbClr val="FF61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0"/>
          <p:cNvSpPr/>
          <p:nvPr/>
        </p:nvSpPr>
        <p:spPr>
          <a:xfrm>
            <a:off x="1207008" y="3017520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Chat Model nativo conectado (GPT-4o o Claude)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640080" y="3749040"/>
            <a:ext cx="365760" cy="365760"/>
          </a:xfrm>
          <a:prstGeom prst="roundRect">
            <a:avLst>
              <a:gd fmla="val 17500" name="adj"/>
            </a:avLst>
          </a:prstGeom>
          <a:solidFill>
            <a:srgbClr val="FAF1E8"/>
          </a:solidFill>
          <a:ln cap="flat" cmpd="sng" w="19050">
            <a:solidFill>
              <a:srgbClr val="FF61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0"/>
          <p:cNvSpPr/>
          <p:nvPr/>
        </p:nvSpPr>
        <p:spPr>
          <a:xfrm>
            <a:off x="1207008" y="3657600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System Prompt modular: Rol → Ámbito → Objetivo → Reglas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640080" y="4389120"/>
            <a:ext cx="365760" cy="365760"/>
          </a:xfrm>
          <a:prstGeom prst="roundRect">
            <a:avLst>
              <a:gd fmla="val 17500" name="adj"/>
            </a:avLst>
          </a:prstGeom>
          <a:solidFill>
            <a:srgbClr val="FAF1E8"/>
          </a:solidFill>
          <a:ln cap="flat" cmpd="sng" w="19050">
            <a:solidFill>
              <a:srgbClr val="FF61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0"/>
          <p:cNvSpPr/>
          <p:nvPr/>
        </p:nvSpPr>
        <p:spPr>
          <a:xfrm>
            <a:off x="1207008" y="4297680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Tool acoplada LATERAL al agente (nunca como nodo secuencial)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640080" y="5029200"/>
            <a:ext cx="365760" cy="365760"/>
          </a:xfrm>
          <a:prstGeom prst="roundRect">
            <a:avLst>
              <a:gd fmla="val 17500" name="adj"/>
            </a:avLst>
          </a:prstGeom>
          <a:solidFill>
            <a:srgbClr val="FAF1E8"/>
          </a:solidFill>
          <a:ln cap="flat" cmpd="sng" w="19050">
            <a:solidFill>
              <a:srgbClr val="FF61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0"/>
          <p:cNvSpPr/>
          <p:nvPr/>
        </p:nvSpPr>
        <p:spPr>
          <a:xfrm>
            <a:off x="1207008" y="4937760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Descripción semántica de la tool: cuándo debe usarla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/>
          <p:nvPr/>
        </p:nvSpPr>
        <p:spPr>
          <a:xfrm>
            <a:off x="640080" y="5669280"/>
            <a:ext cx="365760" cy="365760"/>
          </a:xfrm>
          <a:prstGeom prst="roundRect">
            <a:avLst>
              <a:gd fmla="val 17500" name="adj"/>
            </a:avLst>
          </a:prstGeom>
          <a:solidFill>
            <a:srgbClr val="FAF1E8"/>
          </a:solidFill>
          <a:ln cap="flat" cmpd="sng" w="19050">
            <a:solidFill>
              <a:srgbClr val="FF61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0"/>
          <p:cNvSpPr/>
          <p:nvPr/>
        </p:nvSpPr>
        <p:spPr>
          <a:xfrm>
            <a:off x="1207008" y="5577840"/>
            <a:ext cx="10241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Probar con Execute Workflow y leer el Execution Log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1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10213848" y="502920"/>
            <a:ext cx="1517904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1"/>
          <p:cNvSpPr/>
          <p:nvPr/>
        </p:nvSpPr>
        <p:spPr>
          <a:xfrm>
            <a:off x="10213848" y="502920"/>
            <a:ext cx="1517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EN VIVO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1"/>
          <p:cNvSpPr/>
          <p:nvPr/>
        </p:nvSpPr>
        <p:spPr>
          <a:xfrm>
            <a:off x="502920" y="68580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Rotura 1: la instrucción huérfana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640080" y="1965960"/>
            <a:ext cx="108813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Dejamos la descripción de la tool vaga a propósito: "busca cosas".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El agente se confunde: no sabe cuándo usarla, la ignora o la usa mal.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Diagnóstico: leemos el Execution Log paso a paso y encontramos el Thought fallido.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Reparación: reescribimos la descripción con los casos exactos de uso.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640080" y="5029200"/>
            <a:ext cx="10881360" cy="914400"/>
          </a:xfrm>
          <a:prstGeom prst="roundRect">
            <a:avLst>
              <a:gd fmla="val 160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1"/>
          <p:cNvSpPr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El LLM elige la herramienta por su nombre y su descripción. La descripción ES el prompt de la tool.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2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2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2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2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10213848" y="502920"/>
            <a:ext cx="1517904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2"/>
          <p:cNvSpPr/>
          <p:nvPr/>
        </p:nvSpPr>
        <p:spPr>
          <a:xfrm>
            <a:off x="10213848" y="502920"/>
            <a:ext cx="15179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EN VIVO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2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Rotura 2: el bucle infinito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/>
          <p:nvPr/>
        </p:nvSpPr>
        <p:spPr>
          <a:xfrm>
            <a:off x="640080" y="1965960"/>
            <a:ext cx="108813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Importamos un JSON de un flujo 'roto' que nos llegó de un cliente (ficticio).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Síntoma: el agente repite la misma acción una y otra vez, quemando créditos.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Diagnóstico en el Execution Log: el ciclo ReAct nunca llega a 'objetivo cumplido'.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Solución: Max Iterations entre 5 y 10 en el panel avanzado del nodo.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Bonus de observabilidad: log automático de cierre a Slack o Gmail.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2"/>
          <p:cNvSpPr/>
          <p:nvPr/>
        </p:nvSpPr>
        <p:spPr>
          <a:xfrm>
            <a:off x="640080" y="5212080"/>
            <a:ext cx="10881360" cy="822960"/>
          </a:xfrm>
          <a:prstGeom prst="roundRect">
            <a:avLst>
              <a:gd fmla="val 17778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2"/>
          <p:cNvSpPr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Guardrails + log de auditoría = 70% de la rúbrica de tu primer checkpoint.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3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3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3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3"/>
          <p:cNvSpPr/>
          <p:nvPr/>
        </p:nvSpPr>
        <p:spPr>
          <a:xfrm>
            <a:off x="10616184" y="502920"/>
            <a:ext cx="1115568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3"/>
          <p:cNvSpPr/>
          <p:nvPr/>
        </p:nvSpPr>
        <p:spPr>
          <a:xfrm>
            <a:off x="10616184" y="502920"/>
            <a:ext cx="111556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CODER TIPS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3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Coder Tips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3"/>
          <p:cNvSpPr/>
          <p:nvPr/>
        </p:nvSpPr>
        <p:spPr>
          <a:xfrm>
            <a:off x="640080" y="1920240"/>
            <a:ext cx="10881360" cy="1143000"/>
          </a:xfrm>
          <a:prstGeom prst="roundRect">
            <a:avLst>
              <a:gd fmla="val 128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3"/>
          <p:cNvSpPr/>
          <p:nvPr/>
        </p:nvSpPr>
        <p:spPr>
          <a:xfrm>
            <a:off x="914400" y="2212848"/>
            <a:ext cx="548640" cy="548640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3"/>
          <p:cNvSpPr/>
          <p:nvPr/>
        </p:nvSpPr>
        <p:spPr>
          <a:xfrm>
            <a:off x="914400" y="22128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3"/>
          <p:cNvSpPr/>
          <p:nvPr/>
        </p:nvSpPr>
        <p:spPr>
          <a:xfrm>
            <a:off x="1737360" y="1920240"/>
            <a:ext cx="9509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Escribí la descripción de cada tool como si fuera para un empleado nuevo: cuándo usarla, con qué datos y qué NO hacer.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3"/>
          <p:cNvSpPr/>
          <p:nvPr/>
        </p:nvSpPr>
        <p:spPr>
          <a:xfrm>
            <a:off x="640080" y="3291840"/>
            <a:ext cx="10881360" cy="1143000"/>
          </a:xfrm>
          <a:prstGeom prst="roundRect">
            <a:avLst>
              <a:gd fmla="val 128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3"/>
          <p:cNvSpPr/>
          <p:nvPr/>
        </p:nvSpPr>
        <p:spPr>
          <a:xfrm>
            <a:off x="914400" y="3584448"/>
            <a:ext cx="548640" cy="548640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3"/>
          <p:cNvSpPr/>
          <p:nvPr/>
        </p:nvSpPr>
        <p:spPr>
          <a:xfrm>
            <a:off x="914400" y="35844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3"/>
          <p:cNvSpPr/>
          <p:nvPr/>
        </p:nvSpPr>
        <p:spPr>
          <a:xfrm>
            <a:off x="1737360" y="3291840"/>
            <a:ext cx="9509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Configurá siempre Max Iterations (5 a 10) antes de activar un agente. Es tu seguro contra bucles infinitos.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3"/>
          <p:cNvSpPr/>
          <p:nvPr/>
        </p:nvSpPr>
        <p:spPr>
          <a:xfrm>
            <a:off x="640080" y="4663440"/>
            <a:ext cx="10881360" cy="1143000"/>
          </a:xfrm>
          <a:prstGeom prst="roundRect">
            <a:avLst>
              <a:gd fmla="val 128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3"/>
          <p:cNvSpPr/>
          <p:nvPr/>
        </p:nvSpPr>
        <p:spPr>
          <a:xfrm>
            <a:off x="914400" y="4956048"/>
            <a:ext cx="548640" cy="548640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3"/>
          <p:cNvSpPr/>
          <p:nvPr/>
        </p:nvSpPr>
        <p:spPr>
          <a:xfrm>
            <a:off x="914400" y="495604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★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1737360" y="4663440"/>
            <a:ext cx="9509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Cerrá cada flujo con un log a Slack o Gmail: si el agente trabaja solo, alguien tiene que enterarse de lo que hizo.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4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4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4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4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4"/>
          <p:cNvSpPr/>
          <p:nvPr/>
        </p:nvSpPr>
        <p:spPr>
          <a:xfrm>
            <a:off x="9650578" y="502920"/>
            <a:ext cx="2081174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4"/>
          <p:cNvSpPr/>
          <p:nvPr/>
        </p:nvSpPr>
        <p:spPr>
          <a:xfrm>
            <a:off x="9650578" y="502920"/>
            <a:ext cx="208117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ACTIVIDAD COLABORATIVA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4"/>
          <p:cNvSpPr/>
          <p:nvPr/>
        </p:nvSpPr>
        <p:spPr>
          <a:xfrm>
            <a:off x="502920" y="685800"/>
            <a:ext cx="74980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Desafío: el Agente de Hierro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4"/>
          <p:cNvSpPr/>
          <p:nvPr/>
        </p:nvSpPr>
        <p:spPr>
          <a:xfrm>
            <a:off x="640080" y="178308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Caso: Aprobación de Facturas con Discrepancias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4"/>
          <p:cNvSpPr/>
          <p:nvPr/>
        </p:nvSpPr>
        <p:spPr>
          <a:xfrm>
            <a:off x="640080" y="2377440"/>
            <a:ext cx="786384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En salas de Zoom, diseñen la arquitectura del agente. No lo construyen en n8n: lo dibujan (papel, Miro o Excalidraw).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Requisito 1: una herramienta de lectura de facturas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Requisito 2: un nodo de validación lógica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Requisito 3: un punto de aprobación humana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Requisito 4: una condición de parada por intentos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4"/>
          <p:cNvSpPr/>
          <p:nvPr/>
        </p:nvSpPr>
        <p:spPr>
          <a:xfrm>
            <a:off x="8869680" y="2377440"/>
            <a:ext cx="2651760" cy="1463040"/>
          </a:xfrm>
          <a:prstGeom prst="roundRect">
            <a:avLst>
              <a:gd fmla="val 100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4"/>
          <p:cNvSpPr/>
          <p:nvPr/>
        </p:nvSpPr>
        <p:spPr>
          <a:xfrm>
            <a:off x="8869680" y="2377440"/>
            <a:ext cx="2651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15 min diseño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8 min puesta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en común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4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1500"/>
              <a:buFont typeface="Arial"/>
              <a:buNone/>
            </a:pPr>
            <a:r>
              <a:rPr b="0" i="1" lang="en-US" sz="15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Piensen dónde va lo lineal y dónde va el agente. Esa frontera es el diseño.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5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5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5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5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5"/>
          <p:cNvSpPr/>
          <p:nvPr/>
        </p:nvSpPr>
        <p:spPr>
          <a:xfrm>
            <a:off x="9650578" y="502920"/>
            <a:ext cx="2081174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5"/>
          <p:cNvSpPr/>
          <p:nvPr/>
        </p:nvSpPr>
        <p:spPr>
          <a:xfrm>
            <a:off x="9650578" y="502920"/>
            <a:ext cx="208117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ACTIVIDAD COLABORATIVA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5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Puesta en común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5"/>
          <p:cNvSpPr/>
          <p:nvPr/>
        </p:nvSpPr>
        <p:spPr>
          <a:xfrm>
            <a:off x="640080" y="1965960"/>
            <a:ext cx="1088136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2 o 3 grupos comparten pantalla y defienden su diseño en 2 minutos.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1A0502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Qué evaluamos: ¿la frontera lineal/agente está bien puesta?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1A0502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¿El humano aprueba en el momento correcto del flujo?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500"/>
              </a:spcBef>
              <a:spcAft>
                <a:spcPts val="0"/>
              </a:spcAft>
              <a:buClr>
                <a:srgbClr val="1A0502"/>
              </a:buClr>
              <a:buSzPts val="1750"/>
              <a:buFont typeface="Arial"/>
              <a:buChar char="•"/>
            </a:pPr>
            <a:r>
              <a:rPr b="0" i="0" lang="en-US" sz="17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¿Qué pasa si el agente no puede resolver? ¿Hay condición de parada?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5"/>
          <p:cNvSpPr/>
          <p:nvPr/>
        </p:nvSpPr>
        <p:spPr>
          <a:xfrm>
            <a:off x="640080" y="5029200"/>
            <a:ext cx="10881360" cy="914400"/>
          </a:xfrm>
          <a:prstGeom prst="roundRect">
            <a:avLst>
              <a:gd fmla="val 160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5"/>
          <p:cNvSpPr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No hay un único diseño correcto. Hay diseños que se rompen y diseños que avisan antes de romperse.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6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6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6"/>
          <p:cNvSpPr/>
          <p:nvPr/>
        </p:nvSpPr>
        <p:spPr>
          <a:xfrm>
            <a:off x="10374782" y="502920"/>
            <a:ext cx="1356970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6"/>
          <p:cNvSpPr/>
          <p:nvPr/>
        </p:nvSpPr>
        <p:spPr>
          <a:xfrm>
            <a:off x="10374782" y="502920"/>
            <a:ext cx="135697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PARA RECORDAR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6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Lo que te llevás hoy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6"/>
          <p:cNvSpPr/>
          <p:nvPr/>
        </p:nvSpPr>
        <p:spPr>
          <a:xfrm>
            <a:off x="640080" y="1828800"/>
            <a:ext cx="10881360" cy="896112"/>
          </a:xfrm>
          <a:prstGeom prst="roundRect">
            <a:avLst>
              <a:gd fmla="val 16327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6"/>
          <p:cNvSpPr/>
          <p:nvPr/>
        </p:nvSpPr>
        <p:spPr>
          <a:xfrm>
            <a:off x="914400" y="2066544"/>
            <a:ext cx="420624" cy="420624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6"/>
          <p:cNvSpPr/>
          <p:nvPr/>
        </p:nvSpPr>
        <p:spPr>
          <a:xfrm>
            <a:off x="914400" y="206654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6"/>
          <p:cNvSpPr/>
          <p:nvPr/>
        </p:nvSpPr>
        <p:spPr>
          <a:xfrm>
            <a:off x="1645920" y="1828800"/>
            <a:ext cx="96012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Mantené lo determinista, delegá lo ambiguo.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6"/>
          <p:cNvSpPr/>
          <p:nvPr/>
        </p:nvSpPr>
        <p:spPr>
          <a:xfrm>
            <a:off x="640080" y="2907792"/>
            <a:ext cx="10881360" cy="896112"/>
          </a:xfrm>
          <a:prstGeom prst="roundRect">
            <a:avLst>
              <a:gd fmla="val 16327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6"/>
          <p:cNvSpPr/>
          <p:nvPr/>
        </p:nvSpPr>
        <p:spPr>
          <a:xfrm>
            <a:off x="914400" y="3145536"/>
            <a:ext cx="420624" cy="420624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6"/>
          <p:cNvSpPr/>
          <p:nvPr/>
        </p:nvSpPr>
        <p:spPr>
          <a:xfrm>
            <a:off x="914400" y="314553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6"/>
          <p:cNvSpPr/>
          <p:nvPr/>
        </p:nvSpPr>
        <p:spPr>
          <a:xfrm>
            <a:off x="1645920" y="2907792"/>
            <a:ext cx="96012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ReAct: el agente piensa, actúa, observa y repite hasta cumplir el objetivo.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6"/>
          <p:cNvSpPr/>
          <p:nvPr/>
        </p:nvSpPr>
        <p:spPr>
          <a:xfrm>
            <a:off x="640080" y="3986784"/>
            <a:ext cx="10881360" cy="896112"/>
          </a:xfrm>
          <a:prstGeom prst="roundRect">
            <a:avLst>
              <a:gd fmla="val 16327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6"/>
          <p:cNvSpPr/>
          <p:nvPr/>
        </p:nvSpPr>
        <p:spPr>
          <a:xfrm>
            <a:off x="914400" y="4224528"/>
            <a:ext cx="420624" cy="420624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6"/>
          <p:cNvSpPr/>
          <p:nvPr/>
        </p:nvSpPr>
        <p:spPr>
          <a:xfrm>
            <a:off x="914400" y="422452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6"/>
          <p:cNvSpPr/>
          <p:nvPr/>
        </p:nvSpPr>
        <p:spPr>
          <a:xfrm>
            <a:off x="1645920" y="3986784"/>
            <a:ext cx="96012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Una tool sin buena descripción es una instrucción huérfana.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6"/>
          <p:cNvSpPr/>
          <p:nvPr/>
        </p:nvSpPr>
        <p:spPr>
          <a:xfrm>
            <a:off x="640080" y="5065776"/>
            <a:ext cx="10881360" cy="896112"/>
          </a:xfrm>
          <a:prstGeom prst="roundRect">
            <a:avLst>
              <a:gd fmla="val 16327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6"/>
          <p:cNvSpPr/>
          <p:nvPr/>
        </p:nvSpPr>
        <p:spPr>
          <a:xfrm>
            <a:off x="914400" y="5303520"/>
            <a:ext cx="420624" cy="420624"/>
          </a:xfrm>
          <a:prstGeom prst="ellipse">
            <a:avLst/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6"/>
          <p:cNvSpPr/>
          <p:nvPr/>
        </p:nvSpPr>
        <p:spPr>
          <a:xfrm>
            <a:off x="914400" y="530352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6"/>
          <p:cNvSpPr/>
          <p:nvPr/>
        </p:nvSpPr>
        <p:spPr>
          <a:xfrm>
            <a:off x="1645920" y="5065776"/>
            <a:ext cx="96012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Sin Max Iterations y sin log externo, no hay agente listo para producción.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7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7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7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7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7"/>
          <p:cNvSpPr/>
          <p:nvPr/>
        </p:nvSpPr>
        <p:spPr>
          <a:xfrm>
            <a:off x="10052914" y="502920"/>
            <a:ext cx="1678838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7"/>
          <p:cNvSpPr/>
          <p:nvPr/>
        </p:nvSpPr>
        <p:spPr>
          <a:xfrm>
            <a:off x="10052914" y="502920"/>
            <a:ext cx="16788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MATERIAL AMPLIADO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7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Material ampliado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7"/>
          <p:cNvSpPr/>
          <p:nvPr/>
        </p:nvSpPr>
        <p:spPr>
          <a:xfrm>
            <a:off x="640080" y="1965960"/>
            <a:ext cx="108813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Documentación oficial del AI Agent node de n8n (en el Repositorio de contenidos)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70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Lecturas del Módulo 1 en la plataforma: 'Agentes vs. Automatización Lineal' y 'Ciclo de Razonamiento del AI Agent Node'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70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Podcast del módulo: 'El Salto del Workflow Lineal al Agente Autónomo'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700"/>
              </a:spcBef>
              <a:spcAft>
                <a:spcPts val="0"/>
              </a:spcAft>
              <a:buClr>
                <a:srgbClr val="1A0502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Para practicar la Clínica de Fallos en casa: JSON del flujo roto de hoy, para importar y reparar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8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8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8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8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8"/>
          <p:cNvSpPr/>
          <p:nvPr/>
        </p:nvSpPr>
        <p:spPr>
          <a:xfrm>
            <a:off x="9731045" y="502920"/>
            <a:ext cx="2000707" cy="365760"/>
          </a:xfrm>
          <a:prstGeom prst="roundRect">
            <a:avLst>
              <a:gd fmla="val 15000" name="adj"/>
            </a:avLst>
          </a:prstGeom>
          <a:solidFill>
            <a:srgbClr val="FF61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8"/>
          <p:cNvSpPr/>
          <p:nvPr/>
        </p:nvSpPr>
        <p:spPr>
          <a:xfrm>
            <a:off x="9731045" y="502920"/>
            <a:ext cx="2000707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CUESTIONARIO DE TAREA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8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Cuestionario de tarea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8"/>
          <p:cNvSpPr/>
          <p:nvPr/>
        </p:nvSpPr>
        <p:spPr>
          <a:xfrm>
            <a:off x="640080" y="196596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Google Form asincrónico: lo encontrás en la plataforma.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700"/>
              </a:spcBef>
              <a:spcAft>
                <a:spcPts val="0"/>
              </a:spcAft>
              <a:buClr>
                <a:srgbClr val="1A050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8 preguntas de opción múltiple para repasar lo de hoy.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700"/>
              </a:spcBef>
              <a:spcAft>
                <a:spcPts val="0"/>
              </a:spcAft>
              <a:buClr>
                <a:srgbClr val="1A050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Temas: agente vs. flujo, ciclo ReAct, piezas del AI Agent node, guardrails.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700"/>
              </a:spcBef>
              <a:spcAft>
                <a:spcPts val="0"/>
              </a:spcAft>
              <a:buClr>
                <a:srgbClr val="1A0502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Lo corregimos al inicio de la próxima clase.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8"/>
          <p:cNvSpPr/>
          <p:nvPr/>
        </p:nvSpPr>
        <p:spPr>
          <a:xfrm>
            <a:off x="8869680" y="1965960"/>
            <a:ext cx="2651760" cy="1463040"/>
          </a:xfrm>
          <a:prstGeom prst="roundRect">
            <a:avLst>
              <a:gd fmla="val 100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8"/>
          <p:cNvSpPr/>
          <p:nvPr/>
        </p:nvSpPr>
        <p:spPr>
          <a:xfrm>
            <a:off x="8869680" y="1965960"/>
            <a:ext cx="2651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~10 min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en casa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9"/>
          <p:cNvSpPr/>
          <p:nvPr/>
        </p:nvSpPr>
        <p:spPr>
          <a:xfrm>
            <a:off x="457200" y="2011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Coderhouse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9"/>
          <p:cNvSpPr/>
          <p:nvPr/>
        </p:nvSpPr>
        <p:spPr>
          <a:xfrm>
            <a:off x="2834640" y="201168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9"/>
          <p:cNvSpPr/>
          <p:nvPr/>
        </p:nvSpPr>
        <p:spPr>
          <a:xfrm>
            <a:off x="9326880" y="2011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Internal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9"/>
          <p:cNvSpPr/>
          <p:nvPr/>
        </p:nvSpPr>
        <p:spPr>
          <a:xfrm>
            <a:off x="11338560" y="201168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7A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7A7A7A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9"/>
          <p:cNvSpPr/>
          <p:nvPr/>
        </p:nvSpPr>
        <p:spPr>
          <a:xfrm>
            <a:off x="502920" y="685800"/>
            <a:ext cx="8778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Próxima clase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9"/>
          <p:cNvSpPr/>
          <p:nvPr/>
        </p:nvSpPr>
        <p:spPr>
          <a:xfrm>
            <a:off x="502920" y="146304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Seguimos con el Módulo 1: manos en n8n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9"/>
          <p:cNvSpPr/>
          <p:nvPr/>
        </p:nvSpPr>
        <p:spPr>
          <a:xfrm>
            <a:off x="640080" y="2194560"/>
            <a:ext cx="10881360" cy="2286000"/>
          </a:xfrm>
          <a:prstGeom prst="roundRect">
            <a:avLst>
              <a:gd fmla="val 6400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9"/>
          <p:cNvSpPr/>
          <p:nvPr/>
        </p:nvSpPr>
        <p:spPr>
          <a:xfrm>
            <a:off x="914400" y="237744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12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612D"/>
                </a:solidFill>
                <a:latin typeface="Arial"/>
                <a:ea typeface="Arial"/>
                <a:cs typeface="Arial"/>
                <a:sym typeface="Arial"/>
              </a:rPr>
              <a:t>Traé listo para la próxima: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9"/>
          <p:cNvSpPr/>
          <p:nvPr/>
        </p:nvSpPr>
        <p:spPr>
          <a:xfrm>
            <a:off x="914400" y="2834640"/>
            <a:ext cx="103327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Tu instancia de n8n activa (Cloud o Desktop)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Una API key de OpenAI o Anthropic cargada en el panel de credenciales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1A0502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Un proceso real de tu trabajo que te gustaría agentizar (lo vamos a usar)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9"/>
          <p:cNvSpPr/>
          <p:nvPr/>
        </p:nvSpPr>
        <p:spPr>
          <a:xfrm>
            <a:off x="640080" y="4800600"/>
            <a:ext cx="10881360" cy="1005840"/>
          </a:xfrm>
          <a:prstGeom prst="roundRect">
            <a:avLst>
              <a:gd fmla="val 14545" name="adj"/>
            </a:avLst>
          </a:prstGeom>
          <a:solidFill>
            <a:srgbClr val="FAF1E8"/>
          </a:solidFill>
          <a:ln cap="flat" cmpd="sng" w="9525">
            <a:solidFill>
              <a:srgbClr val="3B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9"/>
          <p:cNvSpPr/>
          <p:nvPr/>
        </p:nvSpPr>
        <p:spPr>
          <a:xfrm>
            <a:off x="914400" y="4800600"/>
            <a:ext cx="10332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50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A0502"/>
                </a:solidFill>
                <a:latin typeface="Arial"/>
                <a:ea typeface="Arial"/>
                <a:cs typeface="Arial"/>
                <a:sym typeface="Arial"/>
              </a:rPr>
              <a:t>En el horizonte: Checkpoint 1, tu primer agente autónomo funcional exportado en JSON. Lo construimos juntos en las próximas clases.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