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nfident-eager-albattani/mnt/outputs/review/unpacked_ref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MÓDULO 1 · CLASE 1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77240" y="22860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Fundamentos de Agentes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Autónomos con n8n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3977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Diseñá y configurá agentes autónomos con el AI Agent node de n8n: herramientas, memoria y guardrails, todo de forma visual.</a:t>
            </a:r>
            <a:endParaRPr lang="en-US" sz="1500" dirty="0"/>
          </a:p>
        </p:txBody>
      </p:sp>
      <p:pic>
        <p:nvPicPr>
          <p:cNvPr id="6" name="Image 1" descr="/sessions/confident-eager-albattani/mnt/outputs/review/unpacked_ref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8" y="5806440"/>
            <a:ext cx="2011680" cy="58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07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 ·  Comisión Julio 2026  ·  Coderhouse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APERTURA · 5 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Actividad: Queremos conocerte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Antes de arrancar, respondé el formulario en pantalla — no hay respuestas correctas, y ya es parte de la clase.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40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Workflow 1 · Captura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834640"/>
            <a:ext cx="256032" cy="256032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61872" y="277977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Form Trigger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273552"/>
            <a:ext cx="256032" cy="256032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73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61872" y="32186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Google Sheets (Append)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9659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2240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Workflow 2 · Dashboard en vivo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2834640"/>
            <a:ext cx="256032" cy="256032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85432" y="277977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Webhook (GET)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3273552"/>
            <a:ext cx="256032" cy="256032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273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85432" y="32186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Google Sheets (Read)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3712464"/>
            <a:ext cx="256032" cy="256032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85432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Respond to Webhook (HTML)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0424160" cy="868680"/>
          </a:xfrm>
          <a:prstGeom prst="roundRect">
            <a:avLst>
              <a:gd name="adj" fmla="val 6316"/>
            </a:avLst>
          </a:prstGeom>
          <a:solidFill>
            <a:srgbClr val="260700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5720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Esto ya es un flujo lineal funcionando: pocos nodos, cero código, y una ejecución verde por persona en la pestaña Executions — eso es observabilidad.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5778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Reemplazá el link del formulario y la planilla por los de tu propia instancia de n8n antes de la clase.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AGENDA DE LA CLASE EN VIVO · 120 MINUTOS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¿Qué vamos a hacer hoy?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" y="2148840"/>
            <a:ext cx="822960" cy="82296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0700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10 min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148840"/>
            <a:ext cx="822960" cy="82296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8892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0700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20 min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8892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Contenido principal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23560" y="2148840"/>
            <a:ext cx="822960" cy="82296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3" name="Text 11"/>
          <p:cNvSpPr/>
          <p:nvPr/>
        </p:nvSpPr>
        <p:spPr>
          <a:xfrm>
            <a:off x="562356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0700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70 min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Actividades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63840" y="2148840"/>
            <a:ext cx="822960" cy="82296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6948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0700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10 min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6948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Preguntas y respuestas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104120" y="2148840"/>
            <a:ext cx="822960" cy="82296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10412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50976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0700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10 min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50976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Cierre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Duración total: 120 minutos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0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320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 · SECCIÓN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Automatización lineal vs. Agentes autónomos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De la receta al chef: vos decidís cada paso, o le das un objetivo y herramientas para que decida el camino.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3A160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6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C9BC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Automatización lineal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953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Flujo determinista (vía de tren)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FILOSOFÍA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72160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“Sé exactamente qué pasos hay que seguir.”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3434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HERRAMIENTAS N8N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63600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Nodos estándar: Sheets, HTTP Request, IF.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52578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555040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Predecible al 100%. Si falla, es la conexión — no “duda” el flujo.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233172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3A1608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606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Agentes autónomos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2953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Sistema agéntico (conductor de taxi)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34290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FILOSOFÍA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372160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“Te doy un objetivo y herramientas; decidí el camino.”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3434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HERRAMIENTAS N8N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63600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Nodo AI Agent + Tools + Memory + Output Parsers.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52578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555040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Probabilístico. Razona con el ciclo ReAct (Reason + Act).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D8C9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C9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EJEMPLO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Triage de soporte técnico</a:t>
            </a:r>
            <a:endParaRPr lang="en-US" sz="2800" dirty="0"/>
          </a:p>
        </p:txBody>
      </p:sp>
      <p:pic>
        <p:nvPicPr>
          <p:cNvPr id="4" name="Image 0" descr="/sessions/confident-eager-albattani/mnt/outputs/review/unpacked_ref/ppt/media/image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0" y="502920"/>
            <a:ext cx="3063240" cy="5577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00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ENFOQUE LINEAL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892808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Si el asunto contiene “Factura” → carpeta Contabilidad. Si contiene “Error” → ticket en Jira.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Problema: “No puedo pagar porque me da un error” confunde al sistema — falla o duplica acciones.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474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ENFOQUE AGÉNTICO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767328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El agente lee el correo, nota la ambigüedad y usa una herramienta para consultar el historial del cliente en HubSpot.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Ve que tiene un pago pendiente y decide preguntar por el código de error antes de categorizar.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530352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260700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3035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Eso es criterio. Y el criterio no se programa con un IF.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0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320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 · SECCIÓN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El ciclo ReAct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Reason + Act: así “piensa” el agente en cada vuelta, y por qué puede gastar tantos tokens.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3A1608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651760"/>
            <a:ext cx="594360" cy="59436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Thought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El modelo analiza el input y decide qué necesita hacer.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17520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91840" y="233172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3A1608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2651760"/>
            <a:ext cx="594360" cy="59436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3520440" y="3429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38404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Ejecuta una herramienta configurada en n8n (DB, sub-workflow).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760720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35040" y="233172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3A1608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2651760"/>
            <a:ext cx="594360" cy="59436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6263640" y="3429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38404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Lee el resultado de la herramienta que acaba de ejecutar.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03920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778240" y="233172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3A1608"/>
          </a:solidFill>
          <a:ln/>
        </p:spPr>
      </p:sp>
      <p:sp>
        <p:nvSpPr>
          <p:cNvPr id="25" name="Shape 23"/>
          <p:cNvSpPr/>
          <p:nvPr/>
        </p:nvSpPr>
        <p:spPr>
          <a:xfrm>
            <a:off x="9052560" y="2651760"/>
            <a:ext cx="594360" cy="59436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26" name="Text 24"/>
          <p:cNvSpPr/>
          <p:nvPr/>
        </p:nvSpPr>
        <p:spPr>
          <a:xfrm>
            <a:off x="905256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4</a:t>
            </a:r>
            <a:endParaRPr lang="en-US" sz="1820" dirty="0"/>
          </a:p>
        </p:txBody>
      </p:sp>
      <p:sp>
        <p:nvSpPr>
          <p:cNvPr id="27" name="Text 25"/>
          <p:cNvSpPr/>
          <p:nvPr/>
        </p:nvSpPr>
        <p:spPr>
          <a:xfrm>
            <a:off x="9006840" y="3429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Repeat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06840" y="38404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Si no cumplió el objetivo, vuelve al paso 1. Si terminó, responde.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Cada vuelta del ciclo consume tokens: por eso un agente gasta más que un flujo lineal.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D8C9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C9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0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320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 · SECCIÓN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¿Cuándo usar cada uno?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DAB2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“Mantené lo determinista, delegá lo ambiguo.”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Regla de oro para el experto: sobre-utilizar agentes en procesos simples aumenta latencia, costo y fragilidad.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3A160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1546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SI PODÉS ESCRIBIR UNA REGLA IF CLARA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20624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Hacelo con un nodo IF en n8n. Ejemplo: extraer un adjunto del correo y guardarlo en Drive.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83464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3A1608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31546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SI LA LÓGICA HUMANA ES DIFÍCIL DE CODIFICAR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420624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Usá un agente. Ejemplo: leer un contrato y decidir si las cláusulas de rescisión son aceptables según la política.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D8C9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C9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 / 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0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320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 · SECCIÓN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Guardrails: los 3 controles obligatorios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Dar “total libertad” al agente es un riesgo operativo y financiero. Diseñamos infraestructuras, no solo chats.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3A1608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651760"/>
            <a:ext cx="548640" cy="54864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</a:t>
            </a:r>
            <a:endParaRPr lang="en-US" sz="168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Límites de iteración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Acotá el número de “vueltas” del ciclo ReAct.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754880"/>
            <a:ext cx="2880360" cy="0"/>
          </a:xfrm>
          <a:prstGeom prst="line">
            <a:avLst/>
          </a:prstGeom>
          <a:noFill/>
          <a:ln w="12700">
            <a:solidFill>
              <a:srgbClr val="4A24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892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DAB2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Buena práctica: entre 5 y 10 iteraciones máximo.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51960" y="23317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3A160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2651760"/>
            <a:ext cx="548640" cy="54864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452628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Mínimo privilegio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6280" y="3840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Nunca le des al agente un conector con permisos totales.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4754880"/>
            <a:ext cx="2880360" cy="0"/>
          </a:xfrm>
          <a:prstGeom prst="line">
            <a:avLst/>
          </a:prstGeom>
          <a:noFill/>
          <a:ln w="12700">
            <a:solidFill>
              <a:srgbClr val="4A24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4892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DAB2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Usá sub-workflows como herramientas acotadas.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55280" y="23317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3A1608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2651760"/>
            <a:ext cx="548640" cy="54864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822960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0" y="3840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Para acciones críticas, el agente no tiene la última palabra.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4754880"/>
            <a:ext cx="2880360" cy="0"/>
          </a:xfrm>
          <a:prstGeom prst="line">
            <a:avLst/>
          </a:prstGeom>
          <a:noFill/>
          <a:ln w="12700">
            <a:solidFill>
              <a:srgbClr val="4A24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4892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DAB2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Prepara la acción → cola de aprobación en Slack/Airtable.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D8C9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C9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 /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0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320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05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 · SECCIÓN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Arquitectura del AI Agent Node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Es un contenedor visual — una “estación central” donde acoplamos cuatro piezas de configuración.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3A1608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651760"/>
            <a:ext cx="548640" cy="54864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Chat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El motor de inteligencia (OpenAI, Anthropic). El “músculo cognitivo”.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3A1608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2651760"/>
            <a:ext cx="548640" cy="54864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3383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System Message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379476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Directrices fijas: comportamiento, tono, rol y restricciones.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233172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3A160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2651760"/>
            <a:ext cx="548640" cy="54864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3383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Tools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379476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Conectores para actuar afuera: planillas, correos, alertas de Slack.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78240" y="233172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3A1608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2560" y="2651760"/>
            <a:ext cx="548640" cy="54864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06840" y="3383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Memory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06840" y="379476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Recuerda inputs y outputs previos para mantener el hilo.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D8C9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C9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OBSERVABILIDAD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Auditando el Execution Log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Un asesor de IA no puede operar a ciegas. n8n muestra cada paso interno del ciclo ReAct, sin tecnicismos.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949440" cy="4114800"/>
          </a:xfrm>
          <a:prstGeom prst="roundRect">
            <a:avLst>
              <a:gd name="adj" fmla="val 1778"/>
            </a:avLst>
          </a:prstGeom>
          <a:solidFill>
            <a:srgbClr val="22222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19456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9456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0604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DA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8F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“El usuario quiere el estado de su pedido, necesito consultar la base.”
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F6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8F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 nodo Consultar_Pedido(id=1042)
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8EC9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8F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“El pedido fue enviado ayer.”
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27C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Ejecución completada — recorrido en verde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2130552"/>
            <a:ext cx="146304" cy="146304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19933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Ves la caja de Thought con el análisis del modelo.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3182112"/>
            <a:ext cx="146304" cy="146304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304495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Visualizás la llamada exacta de la Tool y sus datos.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8120" y="4233672"/>
            <a:ext cx="146304" cy="146304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409651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El panel pinta en verde el recorrido cuando todo salió bien.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 / 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0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320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06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 · SECCIÓN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Diseño de System Prompts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Estructura modular para un comportamiento predecible, sin código.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123444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Rol y Ámbito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06240" y="2103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Identidad técnica del agente y qué NO tiene permitido hacer.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0" y="21031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FDAB2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“Sos un asistente de CRM para calificar leads. No podés modificar presupuestos.”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11064240" cy="0"/>
          </a:xfrm>
          <a:prstGeom prst="line">
            <a:avLst/>
          </a:prstGeom>
          <a:noFill/>
          <a:ln w="9525">
            <a:solidFill>
              <a:srgbClr val="4A24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1234440" y="3108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Objetivo Operativo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206240" y="31089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El resultado comercial exacto que se espera lograr.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0" y="3108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FDAB2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“Tu meta es convertir los datos del chat en un registro limpio para ventas.”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13048"/>
            <a:ext cx="11064240" cy="0"/>
          </a:xfrm>
          <a:prstGeom prst="line">
            <a:avLst/>
          </a:prstGeom>
          <a:noFill/>
          <a:ln w="9525">
            <a:solidFill>
              <a:srgbClr val="4A24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1540" dirty="0"/>
          </a:p>
        </p:txBody>
      </p:sp>
      <p:sp>
        <p:nvSpPr>
          <p:cNvPr id="20" name="Text 18"/>
          <p:cNvSpPr/>
          <p:nvPr/>
        </p:nvSpPr>
        <p:spPr>
          <a:xfrm>
            <a:off x="1234440" y="4114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Reglas de Herramientas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206240" y="4114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Cómo interactuar con los conectores en n8n.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0" y="4114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FDAB2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“Antes de insertar una fila, verificá si el email ya está registrado.”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818888"/>
            <a:ext cx="11064240" cy="0"/>
          </a:xfrm>
          <a:prstGeom prst="line">
            <a:avLst/>
          </a:prstGeom>
          <a:noFill/>
          <a:ln w="9525">
            <a:solidFill>
              <a:srgbClr val="4A24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4</a:t>
            </a:r>
            <a:endParaRPr lang="en-US" sz="1540" dirty="0"/>
          </a:p>
        </p:txBody>
      </p:sp>
      <p:sp>
        <p:nvSpPr>
          <p:cNvPr id="26" name="Text 24"/>
          <p:cNvSpPr/>
          <p:nvPr/>
        </p:nvSpPr>
        <p:spPr>
          <a:xfrm>
            <a:off x="1234440" y="5120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Escalamiento (Guardrails)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206240" y="5120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La frontera exacta de su autonomía.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0" y="5120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FDAB2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“Si piden un reembolso, detené el ciclo y derivá a revisión humana.”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D8C9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C9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0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320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07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 · SECCIÓN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¿Qué modelo elegís para tu agente?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La elección no es por moda: es el triángulo de decisión operativa del negocio.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3A1608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651760"/>
            <a:ext cx="457200" cy="457200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6517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OpenAI · GPT-5.6 (Sol)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3832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Velocidad y eficiencia en tareas de código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0416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Function calling confiable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7000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47000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Ideal para CRMs y planillas (HubSpot, Salesforce)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53583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535838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Formatos de datos limpios y estables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233172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3A160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26517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Anthropic · Claude Sonnet 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33832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El Sonnet más agéntico hasta la fecha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40416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404164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Planifica y usa herramientas (browser, terminal) de forma autónoma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92240" y="47000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47000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Debugging y refactor de codebases grandes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0" y="53583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535838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8F2E8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Triaje complejo, contratos, síntesis documental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D8C9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C9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/ 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ANTIPATRONES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Errores comunes al diseñar agentes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434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438912" cy="438912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!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El agente agujero negro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3200400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Intentar que un solo agente haga todo: leer, analizar, calcular y enviar.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4480560"/>
            <a:ext cx="2093976" cy="0"/>
          </a:xfrm>
          <a:prstGeom prst="line">
            <a:avLst/>
          </a:prstGeom>
          <a:noFill/>
          <a:ln w="12700">
            <a:solidFill>
              <a:srgbClr val="E4D9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61772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2607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Dividí: lógica lineal para preparar datos + agente solo para la parte que requiere juicio.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600200"/>
            <a:ext cx="2606040" cy="4434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1874520"/>
            <a:ext cx="438912" cy="438912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!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11880" y="246888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Falta de memoria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11880" y="3200400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Olvidar conectar un nodo de memoria (Window Buffer Memory).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11880" y="4480560"/>
            <a:ext cx="2093976" cy="0"/>
          </a:xfrm>
          <a:prstGeom prst="line">
            <a:avLst/>
          </a:prstGeom>
          <a:noFill/>
          <a:ln w="12700">
            <a:solidFill>
              <a:srgbClr val="E4D9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461772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2607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Sin memoria, el agente repite acciones porque olvida el paso anterior.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600200"/>
            <a:ext cx="2606040" cy="4434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19088" y="1874520"/>
            <a:ext cx="438912" cy="438912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20" name="Text 18"/>
          <p:cNvSpPr/>
          <p:nvPr/>
        </p:nvSpPr>
        <p:spPr>
          <a:xfrm>
            <a:off x="6419088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!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19088" y="246888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Confundir RAG con agente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19088" y="3200400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Un buscador inteligente solo busca y responde en una base de conocimiento.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19088" y="4480560"/>
            <a:ext cx="2093976" cy="0"/>
          </a:xfrm>
          <a:prstGeom prst="line">
            <a:avLst/>
          </a:prstGeom>
          <a:noFill/>
          <a:ln w="12700">
            <a:solidFill>
              <a:srgbClr val="E4D9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461772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2607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Un agente decide usar Google Search o avisar a un humano si no encuentra la respuesta.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70264" y="1600200"/>
            <a:ext cx="2606040" cy="4434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26296" y="1874520"/>
            <a:ext cx="438912" cy="438912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27" name="Text 25"/>
          <p:cNvSpPr/>
          <p:nvPr/>
        </p:nvSpPr>
        <p:spPr>
          <a:xfrm>
            <a:off x="9226296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!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226296" y="246888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La instrucción huérfana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226296" y="3200400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Dejar la descripción de una tool vaga (ej. “busca cosas”): el agente no sabe cuándo usarla.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226296" y="4480560"/>
            <a:ext cx="2093976" cy="0"/>
          </a:xfrm>
          <a:prstGeom prst="line">
            <a:avLst/>
          </a:prstGeom>
          <a:noFill/>
          <a:ln w="12700">
            <a:solidFill>
              <a:srgbClr val="E4D9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26296" y="461772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2607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La descripción ES el prompt de la tool: escribila como para un empleado nuevo — cuándo usarla, con qué datos y qué NO hacer.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PARA PENSAR · 15 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¿Flujo o agente? El test de decisión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6 procesos reales. Votamos en vivo: ¿automatización lineal o agente autónomo? La pregunta clave: ¿este proceso necesita reglas o necesita criterio?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411480" cy="41148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Al recibir un formulario web, enviar un mensaje a Slack.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194560"/>
            <a:ext cx="411480" cy="41148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448056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Leer cada lead que entra, investigar su empresa y decidir si agendar reunión.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19659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2194560"/>
            <a:ext cx="411480" cy="41148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8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18388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Todos los lunes a las 9:00, exportar las ventas de la semana a una planilla.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931920"/>
            <a:ext cx="411480" cy="41148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4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777240" y="4480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Recibir tickets de soporte y resolver los simples, escalando los complejos.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51960" y="37033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3931920"/>
            <a:ext cx="411480" cy="41148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5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480560" y="4480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Cuando una factura supera $50.000, pedir aprobación al gerente.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0" y="37033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83880" y="3931920"/>
            <a:ext cx="411480" cy="41148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27" name="Text 25"/>
          <p:cNvSpPr/>
          <p:nvPr/>
        </p:nvSpPr>
        <p:spPr>
          <a:xfrm>
            <a:off x="81838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6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8183880" y="4480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Leer contratos recibidos y evaluar si las cláusulas cumplen la política interna.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TALLER PRÁCTICO · 70 MINUTOS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Actividades de hoy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63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¿Flujo o agente? El test de decisión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Clasificación de 6 escenarios reales — votan si es automatización lineal o agente autónomo.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745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632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30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23774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Build-a-Minimal-Agent: ciclo ReAct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46520" y="2880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Construcción en vivo de un agente de soporte con búsqueda en base de conocimientos.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976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63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Uso flexible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Clínica de fallos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53035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Analizamos JSONs de flujos “rotos”: bucles infinitos, memoria faltante y descripciones de tools ambiguas.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2976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63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15+8 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48006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Desafío: Arquitectura del Agente de Hierro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53035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En equipos, diseñan (en Miro o papel, no en n8n) un agente para aprobación de facturas con discrepancias: tool de lectura, validación lógica, aprobación humana y condición de parada.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PRE-ENTREGA OBLIGATORIA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Checkpoint 1: Agente autónomo funcional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424160" cy="502920"/>
          </a:xfrm>
          <a:prstGeom prst="roundRect">
            <a:avLst>
              <a:gd name="adj" fmla="val 10909"/>
            </a:avLst>
          </a:prstGeom>
          <a:solidFill>
            <a:srgbClr val="2607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2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Archivo obligatorio: checkpoint1_nombre_apellido.json — subido a un repositorio de GitHub.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Trigger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Chat Trigger o Webhook para capturar el mensaje inicial del usuario.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21945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1800" y="2468880"/>
            <a:ext cx="457200" cy="45720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108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AI Agent Node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97764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Modo Tools Agent, conectado a GPT-5.6 o Claude Sonnet 5, con límite de 5-10 iteraciones.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21945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66360" y="2468880"/>
            <a:ext cx="457200" cy="45720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3108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System Prompt modular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97764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Rol → Ámbito → Objetivo → Reglas y Escalamiento, con límites claros.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0" y="21945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60920" y="2468880"/>
            <a:ext cx="457200" cy="45720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23" name="Text 21"/>
          <p:cNvSpPr/>
          <p:nvPr/>
        </p:nvSpPr>
        <p:spPr>
          <a:xfrm>
            <a:off x="73609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3108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 Tool con descripción semántica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397764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Google Sheets, Gmail o Slack, acoplada como extensión lateral del agente.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326880" y="219456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555480" y="2468880"/>
            <a:ext cx="457200" cy="45720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28" name="Text 26"/>
          <p:cNvSpPr/>
          <p:nvPr/>
        </p:nvSpPr>
        <p:spPr>
          <a:xfrm>
            <a:off x="95554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09760" y="3108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Observabilidad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09760" y="397764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5B4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Nodo final de Slack o Gmail que reporte el Execution Log como auditoría.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ANTES DE IRTE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2224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Recapitulando y próximos pasos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Un workflow sigue un camino predefinido. Un agente decide el siguiente paso según el resultado del anterior.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ReAct: Thought → Action → Observation → Repeat, hasta cumplir el objetivo.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FF632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2004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22224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El agente es tan bueno como las herramientas que le das y las reglas que le escribís.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18120" y="1691640"/>
            <a:ext cx="3840480" cy="4434840"/>
          </a:xfrm>
          <a:prstGeom prst="roundRect">
            <a:avLst>
              <a:gd name="adj" fmla="val 2381"/>
            </a:avLst>
          </a:prstGeom>
          <a:solidFill>
            <a:srgbClr val="260700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3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PRÓXIMA CLASE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38160" y="23317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Arquitectura</a:t>
            </a:r>
            <a:endParaRPr lang="en-US" sz="2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2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Multi-Agente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38160" y="3657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C9BC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Traé lista tu instancia de n8n, una API key de OpenAI o Anthropic, y un proceso real que quieras agentizar.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4800600"/>
            <a:ext cx="3200400" cy="0"/>
          </a:xfrm>
          <a:prstGeom prst="line">
            <a:avLst/>
          </a:prstGeom>
          <a:noFill/>
          <a:ln w="12700">
            <a:solidFill>
              <a:srgbClr val="4A24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49377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DAB2E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No te olvides de escuchar el podcast de cierre de este módulo.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B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 / 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60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nfident-eager-albattani/mnt/outputs/review/unpacked_ref/ppt/media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5029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743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¡Gracias por </a:t>
            </a:r>
            <a:pPr indent="0" marL="0">
              <a:buNone/>
            </a:pPr>
            <a:r>
              <a:rPr lang="en-US" sz="4600" dirty="0">
                <a:solidFill>
                  <a:srgbClr val="FF632B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estar</a:t>
            </a:r>
            <a:pPr indent="0" marL="0">
              <a:buNone/>
            </a:pPr>
            <a:r>
              <a:rPr lang="en-US" sz="4600" dirty="0">
                <a:solidFill>
                  <a:srgbClr val="F8F2E8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!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82296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9B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Automation Avanzado · Módulo 1 · Coderhouse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2026-07-21T00:12:59Z</dcterms:created>
  <dcterms:modified xsi:type="dcterms:W3CDTF">2026-07-21T00:12:59Z</dcterms:modified>
</cp:coreProperties>
</file>