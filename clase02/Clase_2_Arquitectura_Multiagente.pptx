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19:00 · Lucas abre solo. Aclarar en 20 segundos: hoy arranca el Modulo 2 (cada modulo tiene su propia sesion en vivo). Lo que quedo del Modulo 1 -lecturas, podcast, checkpoint 1- esta en la plataforma.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19:00-19:04 · Lucas repasa las 3 ideas en voz alta, sin encuestas ni pausas para participacion. Es solo para tener el terreno fresco antes de escalar a multi-agente.</a:t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19:04-19:10 · Lucas recorre la agenda. Aclarar que hoy las practicas son demostrativas: el construye en n8n y la clase observa el paso a paso, sin salas ni trabajo grupal.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19:10-19:14 · Puente con Clase 1: el generalista sobrecargado ES el Agente Agujero Negro visto la clase pasada. Multi-agente es la solucion, cuando se justifica.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19:14-19:18 · Lucas detalla los 3 ejes con ejemplos concretos: cada eje es una pregunta que un cliente va a hacer al evaluar el presupuesto de un proyecto de IA.</a:t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19:18-19:21 · Punto clave oficial del programa. Multi-agente vende bien en una propuesta, pero cuesta mas ejecutar. El criterio profesional es resistir el hype.</a:t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19:21-19:25 · Si preguntan por CrewAI/AutoGen: son frameworks de codigo que el programa menciona como referencia conceptual; nuestro stack es n8n visual, que empuja naturalmente hacia orquestacion.</a:t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19:25-19:29 · Lucas explica Execute Workflow como el mecanismo tecnico. Conectar explicitamente con el checkpoint. La demo real de esto se hace en la practica, despues del break.</a:t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19:29-19:33 · Lucas narra ambos ejemplos oficiales del programa: reportes financieros y Soporte Nivel 2.</a:t>
            </a:r>
            <a:endParaRPr/>
          </a:p>
        </p:txBody>
      </p:sp>
      <p:sp>
        <p:nvSpPr>
          <p:cNvPr id="160" name="Google Shape;1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19:33-19:37 · Punto clave oficial. Sembrar la practica 2 aca: el Critic de utileria que van a ver fallar en vivo es exactamente un echo chamber.</a:t>
            </a:r>
            <a:endParaRPr/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19:47-19:48 · Cierre de la teoria, gancho directo a la practica 2 post-break.</a:t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19:48 · Lucas lee los 3 puntos rapido, corta justo antes del break.</a:t>
            </a:r>
            <a:endParaRPr/>
          </a:p>
        </p:txBody>
      </p:sp>
      <p:sp>
        <p:nvSpPr>
          <p:cNvPr id="217" name="Google Shape;2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19:48-19:58 · Break de 10 minutos. Lucas deja preparado en n8n el workflow Manager-Worker para la practica 1 y el Planner-Worker-Critic roto para la practica 2.</a:t>
            </a:r>
            <a:endParaRPr/>
          </a:p>
        </p:txBody>
      </p:sp>
      <p:sp>
        <p:nvSpPr>
          <p:cNvPr id="241" name="Google Shape;2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19:58-20:00 · Lucas presenta el caso y ubica las 3 versiones sobre la matriz ya vista. Sin salas ni grupos: es la introduccion a la practica que construye a continuacion.</a:t>
            </a:r>
            <a:endParaRPr/>
          </a:p>
        </p:txBody>
      </p:sp>
      <p:sp>
        <p:nvSpPr>
          <p:cNvPr id="247" name="Google Shape;2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20:00-20:08 · Lucas llena la tabla en voz alta el solo. Conclusion que va a defender: para este caso, la version ganadora suele ser agente unico con tools salvo que el volumen de research justifique separar en Workers, eso se muestra en la practica siguiente.</a:t>
            </a:r>
            <a:endParaRPr/>
          </a:p>
        </p:txBody>
      </p:sp>
      <p:sp>
        <p:nvSpPr>
          <p:cNvPr id="261" name="Google Shape;26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20:08-20:28 · Lucas construye en vivo (o abre el JSON pre-armado como backup). Foco: el contrato de datos entre Manager y Worker, no la mecanica de arrastrar nodos (eso ya se vio en Clase 1).</a:t>
            </a:r>
            <a:endParaRPr/>
          </a:p>
        </p:txBody>
      </p:sp>
      <p:sp>
        <p:nvSpPr>
          <p:cNvPr id="297" name="Google Shape;2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20:28-20:30 · Lucas presenta el caso y conecta directo con la slide de Critique Loop de la teoria.</a:t>
            </a:r>
            <a:endParaRPr/>
          </a:p>
        </p:txBody>
      </p:sp>
      <p:sp>
        <p:nvSpPr>
          <p:cNvPr id="312" name="Google Shape;31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20:30-20:38 · Lucas muestra esto como el resultado que va a obtener al correr el workflow roto en n8n. La politica real de la empresa es $35/dia: el Worker inflo el reembolso en $105 y el Critic lo dejo pasar.</a:t>
            </a:r>
            <a:endParaRPr/>
          </a:p>
        </p:txBody>
      </p:sp>
      <p:sp>
        <p:nvSpPr>
          <p:cNvPr id="326" name="Google Shape;32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20:38-20:48 · Demo en vivo de construir-romper-reparar, igual que la logica de Clase 1. Conectar con la rubrica del Checkpoint 2: gestion de fallos vale 20%.</a:t>
            </a:r>
            <a:endParaRPr/>
          </a:p>
        </p:txBody>
      </p:sp>
      <p:sp>
        <p:nvSpPr>
          <p:cNvPr id="350" name="Google Shape;35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20:48-20:51 · Lucas sintetiza los 4 puntos, todos anclados en lo que se acaba de mostrar en vivo. Sin abrir a debate: es cierre de contenido.</a:t>
            </a:r>
            <a:endParaRPr/>
          </a:p>
        </p:txBody>
      </p:sp>
      <p:sp>
        <p:nvSpPr>
          <p:cNvPr id="365" name="Google Shape;36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20:51-20:55 · Mostrar la rubrica completa. Las dos practicas de hoy fueron literalmente un ensayo en vivo de esto.</a:t>
            </a:r>
            <a:endParaRPr/>
          </a:p>
        </p:txBody>
      </p:sp>
      <p:sp>
        <p:nvSpPr>
          <p:cNvPr id="393" name="Google Shape;39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20:55-20:57 · Mencionar rapido. Sin cuestionario de tarea: el repaso se hace en vivo al inicio de la Clase 3.</a:t>
            </a:r>
            <a:endParaRPr/>
          </a:p>
        </p:txBody>
      </p:sp>
      <p:sp>
        <p:nvSpPr>
          <p:cNvPr id="408" name="Google Shape;40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20:57-21:00 · Cierre de Lucas, solo. Sin tarea asincronica. Despedida.</a:t>
            </a:r>
            <a:endParaRPr/>
          </a:p>
        </p:txBody>
      </p:sp>
      <p:sp>
        <p:nvSpPr>
          <p:cNvPr id="421" name="Google Shape;42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14400" y="141732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Automation Avanzado · Clase 2 · Módulo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2103120"/>
            <a:ext cx="107259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F6E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DF6EC"/>
                </a:solidFill>
                <a:latin typeface="Arial"/>
                <a:ea typeface="Arial"/>
                <a:cs typeface="Arial"/>
                <a:sym typeface="Arial"/>
              </a:rPr>
              <a:t>Arquitectura Multi-Agente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371600" y="4114800"/>
            <a:ext cx="9445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agente es un empleado. Hoy armamos el equipo.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0938053" y="502920"/>
            <a:ext cx="793699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0938053" y="502920"/>
            <a:ext cx="7936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Repaso rápido de la Clase 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Tres ideas para tener frescas antes de sumar más agentes al tablero.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2286000"/>
            <a:ext cx="10881360" cy="1005840"/>
          </a:xfrm>
          <a:prstGeom prst="roundRect">
            <a:avLst>
              <a:gd fmla="val 14545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737360" y="2286000"/>
            <a:ext cx="9509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flujo lineal sigue un camino fijo. Un agente decide el siguiente paso según el resultado anterior.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3520440"/>
            <a:ext cx="10881360" cy="1005840"/>
          </a:xfrm>
          <a:prstGeom prst="roundRect">
            <a:avLst>
              <a:gd fmla="val 14545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14400" y="3794760"/>
            <a:ext cx="457200" cy="457200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1440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737360" y="3520440"/>
            <a:ext cx="9509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ReAct: el agente piensa, actúa, observa el resultado y repite hasta cumplir el objetivo.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fmla="val 14545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737360" y="4754880"/>
            <a:ext cx="9509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Max Iterations es el guardrail que evita que un agente entre en un bucle infinito.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Hoy vamos a ver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40080" y="1920240"/>
            <a:ext cx="5349240" cy="3017520"/>
          </a:xfrm>
          <a:prstGeom prst="roundRect">
            <a:avLst>
              <a:gd fmla="val 4848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14400" y="192024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1. Mono-agente vs. multi-agente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2. Orquestación vs. colaboración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3. Patrones Manager-Worker y Planner-Executor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217920" y="1920240"/>
            <a:ext cx="5349240" cy="3017520"/>
          </a:xfrm>
          <a:prstGeom prst="roundRect">
            <a:avLst>
              <a:gd fmla="val 4848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492240" y="192024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4. Práctica: Un Reto, Tres Arquitecturas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5. Práctica: Autopsia de una falla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6. Checkpoint 2: orquestación con sub-workflows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" y="5257800"/>
            <a:ext cx="10927080" cy="777240"/>
          </a:xfrm>
          <a:prstGeom prst="roundRect">
            <a:avLst>
              <a:gd fmla="val 18824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0080" y="5257800"/>
            <a:ext cx="10927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Break 19:48 · Las dos prácticas de hoy las construyo yo en vivo en n8n para que vean cómo se hace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¿Cuándo un solo empleado no alcanza?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914400" y="2011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EL GENERALISTA SOBRECARGADO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14400" y="2514600"/>
            <a:ext cx="4800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solo agente hace de todo: lee, analiza, calcula, redacta, envía.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prompt crece y crece hasta volverse ilegible.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Si falla, no sabés en qué paso se equivocó.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217920" y="1783080"/>
            <a:ext cx="5349240" cy="393192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492240" y="2011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EL EQUIPO DE ESPECIALISTAS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492240" y="2514600"/>
            <a:ext cx="4800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Cada agente tiene un rol acotado y un prompt corto y claro.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Manager coordina y decide quién hace qué.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Si algo falla, sabés exactamente en qué eslabón.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02920" y="68580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La matriz de decisión: mono vs. multi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None/>
            </a:pPr>
            <a:r>
              <a:rPr b="1" i="1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Multi-agente no es 'mejor': es más caro y más lento. Se justifica solo cuando la especialización paga.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40080" y="292608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2377440" y="292608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agente + tools: 1 llamada al LLM por paso.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6949440" y="292608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Multi-agente: N llamadas, una por cada agente que interviene.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40080" y="39776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Latencia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2377440" y="397764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Rápido: el usuario espera un solo ciclo de razonamiento.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949440" y="397764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Más lento: la posta pasa de agente en agente.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40080" y="502920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Robustez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2377440" y="502920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Frágil ante tareas muy distintas entre sí en un mismo prompt.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949440" y="50292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Más robusto si cada especialista tiene un scope acotado y claro.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El costo de la coordinación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fmla="val 10435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640080" y="1783080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mensaje entre agentes consume tokens y suma latencia.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640080" y="3108960"/>
            <a:ext cx="108813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Si un agente puede resolverlo solo con herramientas, suele ser mejor que partirlo en dos agentes.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Analogía: cada reunión de equipo también 'cuesta plata' aunque no la veas en la factura.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Antes de sumar un agente, la pregunta es: ¿esto se resuelve con una tool nueva en el agente que ya tengo?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Orquestación vs. colaboración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914400" y="2011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ORQUESTACIÓN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914400" y="239572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Dirigida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914400" y="2834640"/>
            <a:ext cx="4800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Manager decide qué hacer y en qué orden.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Cada paso es predecible y se puede debuggear.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En n8n: Execute Workflow desde un Manager hacia Workers.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217920" y="1783080"/>
            <a:ext cx="5349240" cy="393192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6492240" y="2011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492240" y="239572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Emergente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492240" y="2834640"/>
            <a:ext cx="4800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Los agentes conversan entre sí sin un director fijo.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resultado es más difícil de predecir y auditar.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Frameworks como AutoGen lo hacen posible, pero con código.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40080" y="5852160"/>
            <a:ext cx="10881360" cy="548640"/>
          </a:xfrm>
          <a:prstGeom prst="roundRect">
            <a:avLst>
              <a:gd fmla="val 16667" name="adj"/>
            </a:avLst>
          </a:prstGeom>
          <a:solidFill>
            <a:srgbClr val="FAF1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En arquitectura empresarial preferimos orquestación: por predictibilidad.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Patrón Manager-Worker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4572000" y="1737360"/>
            <a:ext cx="3017520" cy="1005840"/>
          </a:xfrm>
          <a:prstGeom prst="roundRect">
            <a:avLst>
              <a:gd fmla="val 10909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4572000" y="173736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(cerebro estratégico)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822960" y="3291840"/>
            <a:ext cx="3017520" cy="1188720"/>
          </a:xfrm>
          <a:prstGeom prst="roundRect">
            <a:avLst>
              <a:gd fmla="val 12308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960120" y="340156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Worker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960120" y="37490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Especialista 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buscar información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10"/>
          <p:cNvCxnSpPr/>
          <p:nvPr/>
        </p:nvCxnSpPr>
        <p:spPr>
          <a:xfrm flipH="1">
            <a:off x="2133295" y="2226563"/>
            <a:ext cx="2438700" cy="1023000"/>
          </a:xfrm>
          <a:prstGeom prst="straightConnector1">
            <a:avLst/>
          </a:prstGeom>
          <a:noFill/>
          <a:ln cap="flat" cmpd="sng" w="1587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0"/>
          <p:cNvSpPr/>
          <p:nvPr/>
        </p:nvSpPr>
        <p:spPr>
          <a:xfrm>
            <a:off x="4572000" y="3291840"/>
            <a:ext cx="3017520" cy="1188720"/>
          </a:xfrm>
          <a:prstGeom prst="roundRect">
            <a:avLst>
              <a:gd fmla="val 12308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4709160" y="340156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Worker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709160" y="37490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Especialista 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validar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10"/>
          <p:cNvCxnSpPr/>
          <p:nvPr/>
        </p:nvCxnSpPr>
        <p:spPr>
          <a:xfrm>
            <a:off x="6080760" y="2743200"/>
            <a:ext cx="0" cy="548640"/>
          </a:xfrm>
          <a:prstGeom prst="straightConnector1">
            <a:avLst/>
          </a:prstGeom>
          <a:noFill/>
          <a:ln cap="flat" cmpd="sng" w="1587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10"/>
          <p:cNvSpPr/>
          <p:nvPr/>
        </p:nvSpPr>
        <p:spPr>
          <a:xfrm>
            <a:off x="8321040" y="3291840"/>
            <a:ext cx="3017520" cy="1188720"/>
          </a:xfrm>
          <a:prstGeom prst="roundRect">
            <a:avLst>
              <a:gd fmla="val 12308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8458200" y="340156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Worker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8458200" y="37490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Especialista 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redactar salida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0"/>
          <p:cNvCxnSpPr>
            <a:endCxn id="150" idx="0"/>
          </p:cNvCxnSpPr>
          <p:nvPr/>
        </p:nvCxnSpPr>
        <p:spPr>
          <a:xfrm>
            <a:off x="7589400" y="2226540"/>
            <a:ext cx="2240400" cy="1065300"/>
          </a:xfrm>
          <a:prstGeom prst="straightConnector1">
            <a:avLst/>
          </a:prstGeom>
          <a:noFill/>
          <a:ln cap="flat" cmpd="sng" w="1587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0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Execute Workflow: el Manager llama a cada Worker como sub-workflow, le pasa datos y recibe la respuesta.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Es la mecánica exacta del Checkpoint 2: un Manager + al menos 2 Workers, cada uno un flujo separado.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Patrón Planner-Executor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640080" y="160020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Ejemplo oficial: generación de reportes financieros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40080" y="2286000"/>
            <a:ext cx="2468880" cy="1920240"/>
          </a:xfrm>
          <a:prstGeom prst="roundRect">
            <a:avLst>
              <a:gd fmla="val 7619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804672" y="2468880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Planner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804672" y="297180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Define las secciones del reporte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3035808" y="2971800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3493008" y="2286000"/>
            <a:ext cx="2468880" cy="1920240"/>
          </a:xfrm>
          <a:prstGeom prst="roundRect">
            <a:avLst>
              <a:gd fmla="val 7619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3657600" y="2468880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Workers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3657600" y="297180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Extraen datos de distintas fuentes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888736" y="2971800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345936" y="2286000"/>
            <a:ext cx="2468880" cy="1920240"/>
          </a:xfrm>
          <a:prstGeom prst="roundRect">
            <a:avLst>
              <a:gd fmla="val 7619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6510528" y="2468880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Integrador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510528" y="297180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Consolida el estilo y arma el documento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8741664" y="2971800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9198864" y="2286000"/>
            <a:ext cx="2468880" cy="1920240"/>
          </a:xfrm>
          <a:prstGeom prst="roundRect">
            <a:avLst>
              <a:gd fmla="val 7619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9363456" y="2468880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Auditor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9363456" y="297180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Verifica inconsistencias numéricas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640080" y="4526280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Otro ejemplo oficial: Soporte Nivel 2 - Router clasifica el ticket → Especialista busca en documentación → Validador verifica según la versión del cliente.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patrón se repite: alguien planifica, varios ejecutan, alguien verifica.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502920" y="68580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Critique Loop: ¿cuándo sirve un crítico?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914400" y="2011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CRÍTICO ÚTIL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914400" y="2514600"/>
            <a:ext cx="4800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Evalúa con criterios DISTINTOS y específicos.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Ej: el generador redacta, el crítico verifica números contra la fuente.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Puede rechazar y explicar por qué.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217920" y="1783080"/>
            <a:ext cx="5349240" cy="393192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6492240" y="2011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ECHO CHAMBER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492240" y="2514600"/>
            <a:ext cx="4800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Evalúa con el MISMO criterio que el generador.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Ej: ambos solo miran si el formato JSON es válido.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Solo confirma errores: da una falsa sensación de seguridad.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Este es exactamente el bug que vamos a ver fallar y reparar en la segunda práctica de hoy.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Fallas en cascada y pérdida de contexto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640080" y="1828800"/>
            <a:ext cx="10881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En un sistema multi-agente, un error temprano se propaga silenciosamente.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Cada agente solo ve lo que el anterior le pasó: si algo se perdió en el camino, nadie se entera.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fallo más peligroso no es el que rompe el flujo: es el que lo deja seguir con datos incorrectos.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640080" y="4297680"/>
            <a:ext cx="10881360" cy="1371600"/>
          </a:xfrm>
          <a:prstGeom prst="roundRect">
            <a:avLst>
              <a:gd fmla="val 8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Después del break lo construyo, lo rompo y lo reparo en vivo en n8n.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0374782" y="502920"/>
            <a:ext cx="1356970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10374782" y="502920"/>
            <a:ext cx="13569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RECORDAR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Para recordar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fmla="val 1391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914400" y="2231136"/>
            <a:ext cx="438912" cy="438912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914400" y="22311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1645920" y="1920240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Multi-agente no es 'mejor': se justifica solo cuando la especialización paga su costo en tokens y latencia.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640080" y="3200400"/>
            <a:ext cx="10881360" cy="1051560"/>
          </a:xfrm>
          <a:prstGeom prst="roundRect">
            <a:avLst>
              <a:gd fmla="val 1391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914400" y="3511296"/>
            <a:ext cx="438912" cy="438912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914400" y="35112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1645920" y="3200400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En empresa preferimos orquestación (Manager dirige) sobre colaboración (agentes conversan libremente).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640080" y="4480560"/>
            <a:ext cx="10881360" cy="1051560"/>
          </a:xfrm>
          <a:prstGeom prst="roundRect">
            <a:avLst>
              <a:gd fmla="val 1391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914400" y="4791456"/>
            <a:ext cx="438912" cy="438912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914400" y="47914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1645920" y="4480560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crítico sin criterios propios es un echo chamber: confirma errores en vez de detectarlos.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64A4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/>
          <p:nvPr/>
        </p:nvSpPr>
        <p:spPr>
          <a:xfrm>
            <a:off x="1097280" y="2011680"/>
            <a:ext cx="99669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Break,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andá por un cafecito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mate. ¡Volvemos 19:58!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10133381" y="502920"/>
            <a:ext cx="1598371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10133381" y="502920"/>
            <a:ext cx="15983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Un Reto, Tres Arquitecturas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Caso: sistema que genere un plan de lanzamiento de producto con investigación de mercado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640080" y="2377440"/>
            <a:ext cx="10881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Vamos a esbozar 3 versiones del mismo sistema, aplicando la matriz de costo/latencia/robustez que vimos antes del break.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Versión 1: agente único (todo en un prompt).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Versión 2: agente único con herramientas (busca, calcula, redacta con tools).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Versión 3: sistema multi-agente Manager-Worker (patrón que vimos en la teoría).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10133381" y="502920"/>
            <a:ext cx="1598371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10133381" y="502920"/>
            <a:ext cx="15983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02920" y="68580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Comparando las tres versiones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640080" y="1828800"/>
            <a:ext cx="21031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640080" y="18288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2743200" y="1828800"/>
            <a:ext cx="2926080" cy="548640"/>
          </a:xfrm>
          <a:prstGeom prst="rect">
            <a:avLst/>
          </a:prstGeom>
          <a:solidFill>
            <a:srgbClr val="FF612D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2743200" y="18288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 único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5669280" y="1828800"/>
            <a:ext cx="2926080" cy="548640"/>
          </a:xfrm>
          <a:prstGeom prst="rect">
            <a:avLst/>
          </a:prstGeom>
          <a:solidFill>
            <a:srgbClr val="FF612D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5669280" y="18288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 único +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8595360" y="1828800"/>
            <a:ext cx="2926080" cy="548640"/>
          </a:xfrm>
          <a:prstGeom prst="rect">
            <a:avLst/>
          </a:prstGeom>
          <a:solidFill>
            <a:srgbClr val="FF612D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8595360" y="18288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Multi-agente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640080" y="2377440"/>
            <a:ext cx="2103120" cy="822960"/>
          </a:xfrm>
          <a:prstGeom prst="rect">
            <a:avLst/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640080" y="23774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2743200" y="237744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5669280" y="237744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8595360" y="237744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640080" y="3200400"/>
            <a:ext cx="2103120" cy="822960"/>
          </a:xfrm>
          <a:prstGeom prst="rect">
            <a:avLst/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640080" y="320040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Latencia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2743200" y="320040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5669280" y="320040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/>
          <p:cNvSpPr/>
          <p:nvPr/>
        </p:nvSpPr>
        <p:spPr>
          <a:xfrm>
            <a:off x="8595360" y="320040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640080" y="4023360"/>
            <a:ext cx="2103120" cy="822960"/>
          </a:xfrm>
          <a:prstGeom prst="rect">
            <a:avLst/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640080" y="40233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Fiabilidad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2743200" y="402336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5669280" y="402336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"/>
          <p:cNvSpPr/>
          <p:nvPr/>
        </p:nvSpPr>
        <p:spPr>
          <a:xfrm>
            <a:off x="8595360" y="4023360"/>
            <a:ext cx="292608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Lucas completa cada celda narrando el razonamiento, aplicando lo visto en la matriz mono vs. multi.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10133381" y="502920"/>
            <a:ext cx="1598371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"/>
          <p:cNvSpPr/>
          <p:nvPr/>
        </p:nvSpPr>
        <p:spPr>
          <a:xfrm>
            <a:off x="10133381" y="502920"/>
            <a:ext cx="15983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Ahora lo construyo en n8n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640080" y="1828800"/>
            <a:ext cx="10881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Abro n8n y armo la versión Manager-Worker del caso: un Manager que reparte tareas a 2 Workers especialistas.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Muestro el 'contrato de datos': qué campos exactos viajan del Manager a cada Worker por Execute Workflow.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Corro el flujo completo y sigo el resultado paso a paso en el Execution Log.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640080" y="4297680"/>
            <a:ext cx="10881360" cy="1463040"/>
          </a:xfrm>
          <a:prstGeom prst="roundRect">
            <a:avLst>
              <a:gd fmla="val 10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Esta es la mecánica exacta que van a entregar en el Checkpoint 2: no es solo un ejemplo, es la plantilla.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10133381" y="502920"/>
            <a:ext cx="1598371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10133381" y="502920"/>
            <a:ext cx="15983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Autopsia de una falla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sistema Planner → Worker → Critic para reembolso de gastos de viaje, en producción, que aprobó un resultado incorrecto.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Lo voy a construir, correr y romper en vivo: el mismo Critique Loop que vimos antes del break.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Van a ver el momento exacto donde el crítico se convierte en un echo chamber.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Después lo reparo en vivo, cambiando el contrato de datos y el criterio del Critic.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10133381" y="502920"/>
            <a:ext cx="1598371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10133381" y="502920"/>
            <a:ext cx="15983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502920" y="68580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Lo que va a pasar cuando lo corra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fmla="val 11852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914400" y="1984248"/>
            <a:ext cx="1554480" cy="457200"/>
          </a:xfrm>
          <a:prstGeom prst="roundRect">
            <a:avLst>
              <a:gd fmla="val 16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914400" y="198424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2651760" y="1892808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Instrucción al Worker: "Procesá los datos del viaje de Martín y generá el resumen para contabilidad."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fmla="val 11852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914400" y="3401568"/>
            <a:ext cx="1554480" cy="457200"/>
          </a:xfrm>
          <a:prstGeom prst="roundRect">
            <a:avLst>
              <a:gd fmla="val 16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914400" y="340156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2651760" y="3310128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No recibe la política de viáticos de la empresa. Asume un valor genérico: "aplico $50/día como estándar de mercado". Calcula total: $350 (7 días).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fmla="val 11852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914400" y="4818888"/>
            <a:ext cx="1554480" cy="457200"/>
          </a:xfrm>
          <a:prstGeom prst="roundRect">
            <a:avLst>
              <a:gd fmla="val 16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914400" y="481888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2651760" y="4727448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Verifica: ¿el JSON tiene los campos fecha, monto y categoria? Sí. → APROBADO.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10133381" y="502920"/>
            <a:ext cx="1598371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10133381" y="502920"/>
            <a:ext cx="15983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502920" y="68580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Ahora lo rompo y lo reparo en n8n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fmla="val 10909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error real: la política de $35/día nunca llegó al Worker, y el Critic solo miraba formato, no números.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640080" y="2971800"/>
            <a:ext cx="108813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Corro el workflow y muestro la aprobación incorrecta en el Execution Log, en vivo.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Reparación 1: agrego la política vigente al contrato de datos que el Planner le pasa al Worker.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Reparación 2: cambio el criterio del Critic para que compare el monto contra la política real, no solo el formato.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Vuelvo a correr el flujo y muestro el resultado correcto.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10374782" y="502920"/>
            <a:ext cx="1356970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10374782" y="502920"/>
            <a:ext cx="13569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RECORDAR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Lo que te llevás hoy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640080" y="1828800"/>
            <a:ext cx="10881360" cy="896112"/>
          </a:xfrm>
          <a:prstGeom prst="roundRect">
            <a:avLst>
              <a:gd fmla="val 16327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914400" y="2066544"/>
            <a:ext cx="420624" cy="420624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914400" y="20665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1645920" y="1828800"/>
            <a:ext cx="9601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Multi-agente se justifica solo cuando la especialización paga su costo en tokens y latencia.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640080" y="2907792"/>
            <a:ext cx="10881360" cy="896112"/>
          </a:xfrm>
          <a:prstGeom prst="roundRect">
            <a:avLst>
              <a:gd fmla="val 16327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914400" y="3145536"/>
            <a:ext cx="420624" cy="420624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914400" y="3145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1645920" y="2907792"/>
            <a:ext cx="9601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Orquestación (Manager dirige) gana en predictibilidad frente a colaboración libre entre agentes.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640080" y="3986784"/>
            <a:ext cx="10881360" cy="896112"/>
          </a:xfrm>
          <a:prstGeom prst="roundRect">
            <a:avLst>
              <a:gd fmla="val 16327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914400" y="4224528"/>
            <a:ext cx="420624" cy="420624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914400" y="42245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1645920" y="3986784"/>
            <a:ext cx="9601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contrato de datos entre Manager y Worker debe incluir TODO el contexto necesario, no solo lo obvio.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640080" y="5065776"/>
            <a:ext cx="10881360" cy="896112"/>
          </a:xfrm>
          <a:prstGeom prst="roundRect">
            <a:avLst>
              <a:gd fmla="val 16327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914400" y="5303520"/>
            <a:ext cx="420624" cy="420624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914400" y="53035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1645920" y="5065776"/>
            <a:ext cx="9601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crítico útil verifica algo distinto de lo que verificó quien generó la salida.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10455250" y="502920"/>
            <a:ext cx="1276502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10455250" y="502920"/>
            <a:ext cx="12765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CHECKPOINT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502920" y="6858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Pre-entrega: orquestación con sub-workflows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640080" y="1828800"/>
            <a:ext cx="108813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Diseñar un Workflow Manager + al menos 2 Workflows Workers, guardados como flujos separados.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Manager decide cuándo llamar a cada Worker (con AI Agent o Switch, según el caso).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Intercambio bidireccional de datos: el Manager envía variables por Execute Workflow y recibe la respuesta.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Manejo de fallos: qué pasa si un Worker falla (ruta de Error o fallback).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Entregable: PDF con capturas del Manager, los Workers y la configuración de Execute Workflow.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Arquitectura 30% · Enrutamiento 25% · Datos bidireccionales 25% · Manejo de fallos 20% · Documentación 11%.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10052914" y="502920"/>
            <a:ext cx="1678838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10052914" y="502920"/>
            <a:ext cx="16788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MATERIAL AMPLIADO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Material ampliado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640080" y="1965960"/>
            <a:ext cx="108813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Lecturas del Módulo 2 en la plataforma: patrones de orquestación y robustez en sistemas multi-agente.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Podcast de recapitulación del módulo.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Documentación oficial de Execute Workflow en n8n.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Referencia conceptual (no se usan en el curso): LangGraph, CrewAI, AutoGen, para quien quiera explorar frameworks con código.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5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5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Próxima clase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502920" y="146304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Módulo 3: Memoria, Contexto y Persistencia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640080" y="2194560"/>
            <a:ext cx="10881360" cy="2286000"/>
          </a:xfrm>
          <a:prstGeom prst="roundRect">
            <a:avLst>
              <a:gd fmla="val 64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Traé listo para la próxima: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914400" y="283464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Checkpoint 2 (Manager + Workers) avanzado o terminado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Repasar el concepto de búsqueda semántica (lo vamos a necesitar)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Una duda técnica específica sobre persistencia, si ya intentaste algo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fmla="val 14545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En el horizonte: agentes que no solo recuerdan, sino que razonan con contexto histórico coherente.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